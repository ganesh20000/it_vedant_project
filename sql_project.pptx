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77" r:id="rId2"/>
    <p:sldId id="278" r:id="rId3"/>
    <p:sldId id="284" r:id="rId4"/>
    <p:sldId id="256" r:id="rId5"/>
    <p:sldId id="257" r:id="rId6"/>
    <p:sldId id="283" r:id="rId7"/>
    <p:sldId id="258" r:id="rId8"/>
    <p:sldId id="259" r:id="rId9"/>
    <p:sldId id="260" r:id="rId10"/>
    <p:sldId id="261" r:id="rId11"/>
    <p:sldId id="262" r:id="rId12"/>
    <p:sldId id="263" r:id="rId13"/>
    <p:sldId id="282" r:id="rId14"/>
    <p:sldId id="264" r:id="rId15"/>
    <p:sldId id="267" r:id="rId16"/>
    <p:sldId id="281" r:id="rId17"/>
    <p:sldId id="269" r:id="rId18"/>
    <p:sldId id="287" r:id="rId19"/>
    <p:sldId id="270" r:id="rId20"/>
    <p:sldId id="285" r:id="rId21"/>
    <p:sldId id="265" r:id="rId22"/>
    <p:sldId id="272" r:id="rId23"/>
    <p:sldId id="286" r:id="rId24"/>
    <p:sldId id="268" r:id="rId25"/>
    <p:sldId id="273" r:id="rId26"/>
    <p:sldId id="275" r:id="rId27"/>
    <p:sldId id="276"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CD30B4-2A02-4D71-BC0C-0F7C7F3CDA38}">
          <p14:sldIdLst>
            <p14:sldId id="277"/>
            <p14:sldId id="278"/>
            <p14:sldId id="284"/>
          </p14:sldIdLst>
        </p14:section>
        <p14:section name="Untitled Section" id="{927F9B2A-5535-4330-BC99-C867A0431552}">
          <p14:sldIdLst>
            <p14:sldId id="256"/>
            <p14:sldId id="257"/>
            <p14:sldId id="283"/>
            <p14:sldId id="258"/>
            <p14:sldId id="259"/>
            <p14:sldId id="260"/>
            <p14:sldId id="261"/>
            <p14:sldId id="262"/>
            <p14:sldId id="263"/>
            <p14:sldId id="282"/>
            <p14:sldId id="264"/>
            <p14:sldId id="267"/>
            <p14:sldId id="281"/>
            <p14:sldId id="269"/>
            <p14:sldId id="287"/>
            <p14:sldId id="270"/>
            <p14:sldId id="285"/>
            <p14:sldId id="265"/>
          </p14:sldIdLst>
        </p14:section>
        <p14:section name="Untitled Section" id="{4BF586A5-DE0A-4F78-A7BE-B214E1F181AD}">
          <p14:sldIdLst>
            <p14:sldId id="272"/>
            <p14:sldId id="286"/>
            <p14:sldId id="268"/>
            <p14:sldId id="273"/>
            <p14:sldId id="275"/>
            <p14:sldId id="276"/>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515899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3134499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2796272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26B8BF0-2A82-4A61-A65E-A543E1BA01E1}" type="datetimeFigureOut">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742168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26B8BF0-2A82-4A61-A65E-A543E1BA01E1}" type="datetimeFigureOut">
              <a:rPr lang="en-IN" smtClean="0"/>
              <a:t>31-03-2026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2586767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26B8BF0-2A82-4A61-A65E-A543E1BA01E1}" type="datetimeFigureOut">
              <a:rPr lang="en-IN" smtClean="0"/>
              <a:t>31-03-2026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2551841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6B8BF0-2A82-4A61-A65E-A543E1BA01E1}" type="datetimeFigureOut">
              <a:rPr lang="en-IN" smtClean="0"/>
              <a:t>31-03-2026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1520514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26B8BF0-2A82-4A61-A65E-A543E1BA01E1}" type="datetimeFigureOut">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2477827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26B8BF0-2A82-4A61-A65E-A543E1BA01E1}" type="datetimeFigureOut">
              <a:rPr lang="en-IN" smtClean="0"/>
              <a:t>31-03-2026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1259470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928919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7835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3693848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58619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3950731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976133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6B8BF0-2A82-4A61-A65E-A543E1BA01E1}" type="datetimeFigureOut">
              <a:rPr lang="en-IN" smtClean="0"/>
              <a:t>31-03-2026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15BFA0-5307-4E27-A610-FEADF0011A23}" type="slidenum">
              <a:rPr lang="en-IN" smtClean="0"/>
              <a:t>‹#›</a:t>
            </a:fld>
            <a:endParaRPr lang="en-IN"/>
          </a:p>
        </p:txBody>
      </p:sp>
    </p:spTree>
    <p:extLst>
      <p:ext uri="{BB962C8B-B14F-4D97-AF65-F5344CB8AC3E}">
        <p14:creationId xmlns:p14="http://schemas.microsoft.com/office/powerpoint/2010/main" val="1835222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6B8BF0-2A82-4A61-A65E-A543E1BA01E1}" type="datetimeFigureOut">
              <a:rPr lang="en-IN" smtClean="0"/>
              <a:t>31-03-2026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15BFA0-5307-4E27-A610-FEADF0011A23}" type="slidenum">
              <a:rPr lang="en-IN" smtClean="0"/>
              <a:t>‹#›</a:t>
            </a:fld>
            <a:endParaRPr lang="en-IN"/>
          </a:p>
        </p:txBody>
      </p:sp>
    </p:spTree>
    <p:extLst>
      <p:ext uri="{BB962C8B-B14F-4D97-AF65-F5344CB8AC3E}">
        <p14:creationId xmlns:p14="http://schemas.microsoft.com/office/powerpoint/2010/main" val="394230620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A0DF-EA4A-43EE-21F0-FE0C46B7FC09}"/>
              </a:ext>
            </a:extLst>
          </p:cNvPr>
          <p:cNvSpPr>
            <a:spLocks noGrp="1"/>
          </p:cNvSpPr>
          <p:nvPr>
            <p:ph type="title"/>
          </p:nvPr>
        </p:nvSpPr>
        <p:spPr>
          <a:xfrm>
            <a:off x="895738" y="365125"/>
            <a:ext cx="10458061" cy="1193087"/>
          </a:xfrm>
        </p:spPr>
        <p:txBody>
          <a:bodyPr>
            <a:normAutofit/>
          </a:bodyPr>
          <a:lstStyle/>
          <a:p>
            <a:pPr algn="ctr"/>
            <a:r>
              <a:rPr lang="en-IN" sz="4800" b="1" dirty="0"/>
              <a:t>Railway Ticket Management system</a:t>
            </a:r>
          </a:p>
        </p:txBody>
      </p:sp>
      <p:pic>
        <p:nvPicPr>
          <p:cNvPr id="4" name="Picture 2" descr="indian railways sleeper class window - indian railways stock pictures, royalty-free photos &amp; images">
            <a:extLst>
              <a:ext uri="{FF2B5EF4-FFF2-40B4-BE49-F238E27FC236}">
                <a16:creationId xmlns:a16="http://schemas.microsoft.com/office/drawing/2014/main" id="{35893A3E-A93B-7969-8847-CEE7BBAB2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41309"/>
            <a:ext cx="12192001" cy="5026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252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B11926-0DEC-8428-7EC4-C9900AC92746}"/>
              </a:ext>
            </a:extLst>
          </p:cNvPr>
          <p:cNvSpPr>
            <a:spLocks noGrp="1"/>
          </p:cNvSpPr>
          <p:nvPr>
            <p:ph type="title"/>
          </p:nvPr>
        </p:nvSpPr>
        <p:spPr>
          <a:xfrm>
            <a:off x="839788" y="457200"/>
            <a:ext cx="3932237" cy="774441"/>
          </a:xfrm>
        </p:spPr>
        <p:txBody>
          <a:bodyPr/>
          <a:lstStyle/>
          <a:p>
            <a:r>
              <a:rPr lang="en-IN" dirty="0"/>
              <a:t>Abstract</a:t>
            </a:r>
          </a:p>
        </p:txBody>
      </p:sp>
      <p:pic>
        <p:nvPicPr>
          <p:cNvPr id="11" name="Picture 2" descr="people travelling on local indian train into mumbai - crowded train india stock pictures, royalty-free photos &amp; images">
            <a:extLst>
              <a:ext uri="{FF2B5EF4-FFF2-40B4-BE49-F238E27FC236}">
                <a16:creationId xmlns:a16="http://schemas.microsoft.com/office/drawing/2014/main" id="{3A0FB145-52F5-7BA5-1A75-C0559BA95D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eople travelling on local indian train into mumbai - crowded train india stock pictures, royalty-free photos &amp; images">
            <a:extLst>
              <a:ext uri="{FF2B5EF4-FFF2-40B4-BE49-F238E27FC236}">
                <a16:creationId xmlns:a16="http://schemas.microsoft.com/office/drawing/2014/main" id="{40AAC19D-D2F6-4D6C-DB7F-90D0D32038B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C8F8AF-365A-98A5-DE3D-302BF33EA21F}"/>
              </a:ext>
            </a:extLst>
          </p:cNvPr>
          <p:cNvSpPr txBox="1"/>
          <p:nvPr/>
        </p:nvSpPr>
        <p:spPr>
          <a:xfrm>
            <a:off x="1474237" y="3564292"/>
            <a:ext cx="6046236" cy="2677656"/>
          </a:xfrm>
          <a:prstGeom prst="rect">
            <a:avLst/>
          </a:prstGeom>
          <a:noFill/>
        </p:spPr>
        <p:txBody>
          <a:bodyPr wrap="square">
            <a:spAutoFit/>
          </a:bodyPr>
          <a:lstStyle/>
          <a:p>
            <a:r>
              <a:rPr lang="en-IN" sz="2400" b="1" dirty="0">
                <a:solidFill>
                  <a:srgbClr val="C00000"/>
                </a:solidFill>
                <a:highlight>
                  <a:srgbClr val="000000"/>
                </a:highlight>
              </a:rPr>
              <a:t>This railway ticket management system </a:t>
            </a:r>
          </a:p>
          <a:p>
            <a:r>
              <a:rPr lang="en-IN" sz="2400" b="1" dirty="0">
                <a:solidFill>
                  <a:srgbClr val="C00000"/>
                </a:solidFill>
                <a:highlight>
                  <a:srgbClr val="000000"/>
                </a:highlight>
              </a:rPr>
              <a:t>,which contain entity like train , passenger,</a:t>
            </a:r>
          </a:p>
          <a:p>
            <a:r>
              <a:rPr lang="en-IN" sz="2400" b="1" dirty="0">
                <a:solidFill>
                  <a:srgbClr val="C00000"/>
                </a:solidFill>
                <a:highlight>
                  <a:srgbClr val="000000"/>
                </a:highlight>
              </a:rPr>
              <a:t>Station , ticket , That help Railway management by finding meaningful insight</a:t>
            </a:r>
          </a:p>
          <a:p>
            <a:r>
              <a:rPr lang="en-IN" sz="2400" b="1" dirty="0">
                <a:solidFill>
                  <a:srgbClr val="C00000"/>
                </a:solidFill>
                <a:highlight>
                  <a:srgbClr val="000000"/>
                </a:highlight>
              </a:rPr>
              <a:t>Such as fare , train and passenger detail</a:t>
            </a:r>
          </a:p>
          <a:p>
            <a:r>
              <a:rPr lang="en-IN" sz="2400" b="1" dirty="0">
                <a:solidFill>
                  <a:srgbClr val="C00000"/>
                </a:solidFill>
                <a:highlight>
                  <a:srgbClr val="000000"/>
                </a:highlight>
              </a:rPr>
              <a:t>Which help for making decision </a:t>
            </a:r>
          </a:p>
          <a:p>
            <a:r>
              <a:rPr lang="en-IN" sz="2400" b="1" dirty="0">
                <a:solidFill>
                  <a:srgbClr val="C00000"/>
                </a:solidFill>
                <a:highlight>
                  <a:srgbClr val="000000"/>
                </a:highlight>
              </a:rPr>
              <a:t>Based on this we make draw conclusion.</a:t>
            </a:r>
          </a:p>
        </p:txBody>
      </p:sp>
    </p:spTree>
    <p:extLst>
      <p:ext uri="{BB962C8B-B14F-4D97-AF65-F5344CB8AC3E}">
        <p14:creationId xmlns:p14="http://schemas.microsoft.com/office/powerpoint/2010/main" val="214827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020D7D5C-107A-478B-09AC-4A1935C81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260"/>
            <a:ext cx="12192000" cy="6858000"/>
          </a:xfrm>
          <a:prstGeom prst="rect">
            <a:avLst/>
          </a:prstGeom>
        </p:spPr>
      </p:pic>
    </p:spTree>
    <p:extLst>
      <p:ext uri="{BB962C8B-B14F-4D97-AF65-F5344CB8AC3E}">
        <p14:creationId xmlns:p14="http://schemas.microsoft.com/office/powerpoint/2010/main" val="298351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223CC1-565B-A823-6368-6F133D7DA68D}"/>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8F5ABB1-A8BC-E695-5DB4-9C21F4FD9500}"/>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Table name :- Passenger</a:t>
            </a:r>
          </a:p>
        </p:txBody>
      </p:sp>
      <p:pic>
        <p:nvPicPr>
          <p:cNvPr id="12" name="Picture 11" descr="A black screen with white text&#10;&#10;AI-generated content may be incorrect.">
            <a:extLst>
              <a:ext uri="{FF2B5EF4-FFF2-40B4-BE49-F238E27FC236}">
                <a16:creationId xmlns:a16="http://schemas.microsoft.com/office/drawing/2014/main" id="{477250DF-C48A-8984-FC3B-C207D65E0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29" y="1074967"/>
            <a:ext cx="9622159" cy="3225581"/>
          </a:xfrm>
          <a:prstGeom prst="rect">
            <a:avLst/>
          </a:prstGeom>
        </p:spPr>
      </p:pic>
    </p:spTree>
    <p:extLst>
      <p:ext uri="{BB962C8B-B14F-4D97-AF65-F5344CB8AC3E}">
        <p14:creationId xmlns:p14="http://schemas.microsoft.com/office/powerpoint/2010/main" val="3811625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F504DB-23A9-260D-2AC9-C45F07F64CAF}"/>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DF35C62-3847-7F34-A5A0-64871D66372A}"/>
              </a:ext>
            </a:extLst>
          </p:cNvPr>
          <p:cNvSpPr txBox="1"/>
          <p:nvPr/>
        </p:nvSpPr>
        <p:spPr>
          <a:xfrm>
            <a:off x="926841" y="158267"/>
            <a:ext cx="10338318" cy="523220"/>
          </a:xfrm>
          <a:prstGeom prst="rect">
            <a:avLst/>
          </a:prstGeom>
          <a:noFill/>
        </p:spPr>
        <p:txBody>
          <a:bodyPr wrap="square" rtlCol="0">
            <a:spAutoFit/>
          </a:bodyPr>
          <a:lstStyle/>
          <a:p>
            <a:pPr algn="ctr"/>
            <a:r>
              <a:rPr lang="en-IN" sz="28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Table Name :- Train</a:t>
            </a:r>
          </a:p>
        </p:txBody>
      </p:sp>
      <p:pic>
        <p:nvPicPr>
          <p:cNvPr id="2" name="Picture 1" descr="A black screen with white text&#10;&#10;AI-generated content may be incorrect.">
            <a:extLst>
              <a:ext uri="{FF2B5EF4-FFF2-40B4-BE49-F238E27FC236}">
                <a16:creationId xmlns:a16="http://schemas.microsoft.com/office/drawing/2014/main" id="{9265B73D-AD50-2688-8C05-108751A7D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8030"/>
            <a:ext cx="9364827" cy="3641939"/>
          </a:xfrm>
          <a:prstGeom prst="rect">
            <a:avLst/>
          </a:prstGeom>
        </p:spPr>
      </p:pic>
    </p:spTree>
    <p:extLst>
      <p:ext uri="{BB962C8B-B14F-4D97-AF65-F5344CB8AC3E}">
        <p14:creationId xmlns:p14="http://schemas.microsoft.com/office/powerpoint/2010/main" val="4230967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58AD558-EF46-9819-BC16-2079AD16090C}"/>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C797AC-CEC2-0F86-C30E-489D5439BBCC}"/>
              </a:ext>
            </a:extLst>
          </p:cNvPr>
          <p:cNvSpPr txBox="1"/>
          <p:nvPr/>
        </p:nvSpPr>
        <p:spPr>
          <a:xfrm>
            <a:off x="926841" y="158267"/>
            <a:ext cx="10338318" cy="954107"/>
          </a:xfrm>
          <a:prstGeom prst="rect">
            <a:avLst/>
          </a:prstGeom>
          <a:noFill/>
        </p:spPr>
        <p:txBody>
          <a:bodyPr wrap="square" rtlCol="0">
            <a:spAutoFit/>
          </a:bodyPr>
          <a:lstStyle/>
          <a:p>
            <a:pPr algn="ctr"/>
            <a:r>
              <a:rPr lang="en-IN" sz="28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Table Name :- coach</a:t>
            </a:r>
          </a:p>
          <a:p>
            <a:pPr algn="ctr"/>
            <a:endParaRPr lang="en-IN" sz="28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black screen with white text">
            <a:extLst>
              <a:ext uri="{FF2B5EF4-FFF2-40B4-BE49-F238E27FC236}">
                <a16:creationId xmlns:a16="http://schemas.microsoft.com/office/drawing/2014/main" id="{851CC271-2BE5-A24B-07A3-1CD63BF8F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1181"/>
            <a:ext cx="7701699" cy="2820591"/>
          </a:xfrm>
          <a:prstGeom prst="rect">
            <a:avLst/>
          </a:prstGeom>
        </p:spPr>
      </p:pic>
    </p:spTree>
    <p:extLst>
      <p:ext uri="{BB962C8B-B14F-4D97-AF65-F5344CB8AC3E}">
        <p14:creationId xmlns:p14="http://schemas.microsoft.com/office/powerpoint/2010/main" val="848186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0AED8B9-1196-48C1-4635-2EBD6B773EEF}"/>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216852C-6E44-1C2F-4198-9C4E1FF01133}"/>
              </a:ext>
            </a:extLst>
          </p:cNvPr>
          <p:cNvSpPr txBox="1"/>
          <p:nvPr/>
        </p:nvSpPr>
        <p:spPr>
          <a:xfrm>
            <a:off x="306527" y="158267"/>
            <a:ext cx="10338318" cy="523220"/>
          </a:xfrm>
          <a:prstGeom prst="rect">
            <a:avLst/>
          </a:prstGeom>
          <a:noFill/>
        </p:spPr>
        <p:txBody>
          <a:bodyPr wrap="square" rtlCol="0">
            <a:spAutoFit/>
          </a:bodyPr>
          <a:lstStyle/>
          <a:p>
            <a:pPr algn="ctr"/>
            <a:r>
              <a:rPr lang="en-IN" sz="28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Table Name :-Ticket</a:t>
            </a:r>
          </a:p>
        </p:txBody>
      </p:sp>
      <p:pic>
        <p:nvPicPr>
          <p:cNvPr id="5" name="Picture 4" descr="A screenshot of a computer program&#10;&#10;AI-generated content may be incorrect.">
            <a:extLst>
              <a:ext uri="{FF2B5EF4-FFF2-40B4-BE49-F238E27FC236}">
                <a16:creationId xmlns:a16="http://schemas.microsoft.com/office/drawing/2014/main" id="{9CD4C474-555F-BF36-7F2A-31A30DF23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8648"/>
            <a:ext cx="8818812" cy="3386935"/>
          </a:xfrm>
          <a:prstGeom prst="rect">
            <a:avLst/>
          </a:prstGeom>
        </p:spPr>
      </p:pic>
    </p:spTree>
    <p:extLst>
      <p:ext uri="{BB962C8B-B14F-4D97-AF65-F5344CB8AC3E}">
        <p14:creationId xmlns:p14="http://schemas.microsoft.com/office/powerpoint/2010/main" val="2157787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AB50F49-4234-4072-542D-42596F2E97FE}"/>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74FA1827-12EA-8DB5-0A3E-6AEFDD83A960}"/>
              </a:ext>
            </a:extLst>
          </p:cNvPr>
          <p:cNvSpPr txBox="1"/>
          <p:nvPr/>
        </p:nvSpPr>
        <p:spPr>
          <a:xfrm>
            <a:off x="1903445" y="235211"/>
            <a:ext cx="825759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Table name :- station</a:t>
            </a:r>
          </a:p>
        </p:txBody>
      </p:sp>
      <p:pic>
        <p:nvPicPr>
          <p:cNvPr id="3" name="Picture 2" descr="A black screen with white text">
            <a:extLst>
              <a:ext uri="{FF2B5EF4-FFF2-40B4-BE49-F238E27FC236}">
                <a16:creationId xmlns:a16="http://schemas.microsoft.com/office/drawing/2014/main" id="{878BE649-5BB5-32B8-FD2D-030C15431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87" y="2115470"/>
            <a:ext cx="9254006" cy="2913730"/>
          </a:xfrm>
          <a:prstGeom prst="rect">
            <a:avLst/>
          </a:prstGeom>
        </p:spPr>
      </p:pic>
    </p:spTree>
    <p:extLst>
      <p:ext uri="{BB962C8B-B14F-4D97-AF65-F5344CB8AC3E}">
        <p14:creationId xmlns:p14="http://schemas.microsoft.com/office/powerpoint/2010/main" val="670791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339CBC-251A-F318-0560-F0C69AE80624}"/>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BA97B1-297E-B0AC-7045-CAE0D99C608C}"/>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Content of table :-Passenger</a:t>
            </a:r>
          </a:p>
        </p:txBody>
      </p:sp>
      <p:pic>
        <p:nvPicPr>
          <p:cNvPr id="7" name="Picture 6" descr="A screenshot of a computer&#10;&#10;AI-generated content may be incorrect.">
            <a:extLst>
              <a:ext uri="{FF2B5EF4-FFF2-40B4-BE49-F238E27FC236}">
                <a16:creationId xmlns:a16="http://schemas.microsoft.com/office/drawing/2014/main" id="{27984683-E9DE-B270-0EAB-704D95BD8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16" y="1074966"/>
            <a:ext cx="7273390" cy="5641359"/>
          </a:xfrm>
          <a:prstGeom prst="rect">
            <a:avLst/>
          </a:prstGeom>
        </p:spPr>
      </p:pic>
    </p:spTree>
    <p:extLst>
      <p:ext uri="{BB962C8B-B14F-4D97-AF65-F5344CB8AC3E}">
        <p14:creationId xmlns:p14="http://schemas.microsoft.com/office/powerpoint/2010/main" val="316855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Content of table:- Train</a:t>
            </a:r>
          </a:p>
        </p:txBody>
      </p:sp>
      <p:pic>
        <p:nvPicPr>
          <p:cNvPr id="3" name="Picture 2" descr="A screenshot of a computer screen&#10;&#10;AI-generated content may be incorrect.">
            <a:extLst>
              <a:ext uri="{FF2B5EF4-FFF2-40B4-BE49-F238E27FC236}">
                <a16:creationId xmlns:a16="http://schemas.microsoft.com/office/drawing/2014/main" id="{C4C3C636-B2B7-1A02-19E6-D31DCCF68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11" y="1180905"/>
            <a:ext cx="7536833" cy="4496190"/>
          </a:xfrm>
          <a:prstGeom prst="rect">
            <a:avLst/>
          </a:prstGeom>
        </p:spPr>
      </p:pic>
    </p:spTree>
    <p:extLst>
      <p:ext uri="{BB962C8B-B14F-4D97-AF65-F5344CB8AC3E}">
        <p14:creationId xmlns:p14="http://schemas.microsoft.com/office/powerpoint/2010/main" val="383824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Content of table:- Ticket</a:t>
            </a:r>
          </a:p>
        </p:txBody>
      </p:sp>
      <p:pic>
        <p:nvPicPr>
          <p:cNvPr id="3" name="Picture 2" descr="A screenshot of a computer&#10;&#10;AI-generated content may be incorrect.">
            <a:extLst>
              <a:ext uri="{FF2B5EF4-FFF2-40B4-BE49-F238E27FC236}">
                <a16:creationId xmlns:a16="http://schemas.microsoft.com/office/drawing/2014/main" id="{FB7D1471-D8DB-E457-1720-CECAF84CA0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69" y="998009"/>
            <a:ext cx="6537496" cy="5833458"/>
          </a:xfrm>
          <a:prstGeom prst="rect">
            <a:avLst/>
          </a:prstGeom>
        </p:spPr>
      </p:pic>
    </p:spTree>
    <p:extLst>
      <p:ext uri="{BB962C8B-B14F-4D97-AF65-F5344CB8AC3E}">
        <p14:creationId xmlns:p14="http://schemas.microsoft.com/office/powerpoint/2010/main" val="295496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72817" y="24454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Content of table:- station</a:t>
            </a:r>
          </a:p>
        </p:txBody>
      </p:sp>
      <p:pic>
        <p:nvPicPr>
          <p:cNvPr id="7" name="Picture 6" descr="A screenshot of a computer screen&#10;&#10;AI-generated content may be incorrect.">
            <a:extLst>
              <a:ext uri="{FF2B5EF4-FFF2-40B4-BE49-F238E27FC236}">
                <a16:creationId xmlns:a16="http://schemas.microsoft.com/office/drawing/2014/main" id="{ACF4D8F9-5C92-6859-C2BF-F4FFEF2A2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30" y="1310480"/>
            <a:ext cx="7003387" cy="4595258"/>
          </a:xfrm>
          <a:prstGeom prst="rect">
            <a:avLst/>
          </a:prstGeom>
        </p:spPr>
      </p:pic>
    </p:spTree>
    <p:extLst>
      <p:ext uri="{BB962C8B-B14F-4D97-AF65-F5344CB8AC3E}">
        <p14:creationId xmlns:p14="http://schemas.microsoft.com/office/powerpoint/2010/main" val="2942074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58AD558-EF46-9819-BC16-2079AD16090C}"/>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88000C5-45FC-14E2-1E33-4728B5F249F5}"/>
              </a:ext>
            </a:extLst>
          </p:cNvPr>
          <p:cNvSpPr txBox="1"/>
          <p:nvPr/>
        </p:nvSpPr>
        <p:spPr>
          <a:xfrm>
            <a:off x="2080378" y="184069"/>
            <a:ext cx="8276734"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Content of table :- Coach</a:t>
            </a:r>
          </a:p>
        </p:txBody>
      </p:sp>
      <p:pic>
        <p:nvPicPr>
          <p:cNvPr id="5" name="Picture 4" descr="A screenshot of a computer program">
            <a:extLst>
              <a:ext uri="{FF2B5EF4-FFF2-40B4-BE49-F238E27FC236}">
                <a16:creationId xmlns:a16="http://schemas.microsoft.com/office/drawing/2014/main" id="{3E81E43E-CB05-FB55-4FCF-F01FF42EB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8070"/>
            <a:ext cx="5663750" cy="5825861"/>
          </a:xfrm>
          <a:prstGeom prst="rect">
            <a:avLst/>
          </a:prstGeom>
        </p:spPr>
      </p:pic>
    </p:spTree>
    <p:extLst>
      <p:ext uri="{BB962C8B-B14F-4D97-AF65-F5344CB8AC3E}">
        <p14:creationId xmlns:p14="http://schemas.microsoft.com/office/powerpoint/2010/main" val="1577830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system&#10;&#10;AI-generated content may be incorrect.">
            <a:extLst>
              <a:ext uri="{FF2B5EF4-FFF2-40B4-BE49-F238E27FC236}">
                <a16:creationId xmlns:a16="http://schemas.microsoft.com/office/drawing/2014/main" id="{342572D1-DDA3-A659-7EE5-C3825C4EAB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910" y="1483567"/>
            <a:ext cx="5758535" cy="4543949"/>
          </a:xfrm>
          <a:prstGeom prst="rect">
            <a:avLst/>
          </a:prstGeom>
        </p:spPr>
      </p:pic>
      <p:sp>
        <p:nvSpPr>
          <p:cNvPr id="7" name="Rectangle 6">
            <a:extLst>
              <a:ext uri="{FF2B5EF4-FFF2-40B4-BE49-F238E27FC236}">
                <a16:creationId xmlns:a16="http://schemas.microsoft.com/office/drawing/2014/main" id="{A629649C-DAD7-8CBC-3741-1EBB6EB2A819}"/>
              </a:ext>
            </a:extLst>
          </p:cNvPr>
          <p:cNvSpPr/>
          <p:nvPr/>
        </p:nvSpPr>
        <p:spPr>
          <a:xfrm>
            <a:off x="0" y="-27991"/>
            <a:ext cx="12192000"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05F44306-876F-3DE9-240C-1A6C5EE304F5}"/>
              </a:ext>
            </a:extLst>
          </p:cNvPr>
          <p:cNvSpPr>
            <a:spLocks noGrp="1"/>
          </p:cNvSpPr>
          <p:nvPr>
            <p:ph type="title"/>
          </p:nvPr>
        </p:nvSpPr>
        <p:spPr>
          <a:xfrm rot="10800000" flipV="1">
            <a:off x="167946" y="261258"/>
            <a:ext cx="11868543" cy="942391"/>
          </a:xfrm>
        </p:spPr>
        <p:txBody>
          <a:bodyPr>
            <a:noAutofit/>
          </a:bodyPr>
          <a:lstStyle/>
          <a:p>
            <a:pPr algn="ctr"/>
            <a:r>
              <a:rPr lang="en-IN" sz="7200" dirty="0">
                <a:solidFill>
                  <a:schemeClr val="bg1">
                    <a:lumMod val="95000"/>
                  </a:schemeClr>
                </a:solidFill>
              </a:rPr>
              <a:t>Subquery</a:t>
            </a:r>
          </a:p>
        </p:txBody>
      </p:sp>
    </p:spTree>
    <p:extLst>
      <p:ext uri="{BB962C8B-B14F-4D97-AF65-F5344CB8AC3E}">
        <p14:creationId xmlns:p14="http://schemas.microsoft.com/office/powerpoint/2010/main" val="417252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53166"/>
            <a:ext cx="8416212" cy="954107"/>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1</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5">
            <a:extLst>
              <a:ext uri="{FF2B5EF4-FFF2-40B4-BE49-F238E27FC236}">
                <a16:creationId xmlns:a16="http://schemas.microsoft.com/office/drawing/2014/main" id="{EEB0A551-D3C8-B504-88F8-4A3774B47E3B}"/>
              </a:ext>
            </a:extLst>
          </p:cNvPr>
          <p:cNvSpPr>
            <a:spLocks noGrp="1"/>
          </p:cNvSpPr>
          <p:nvPr>
            <p:ph type="title"/>
          </p:nvPr>
        </p:nvSpPr>
        <p:spPr>
          <a:xfrm>
            <a:off x="620853" y="110134"/>
            <a:ext cx="10950293" cy="1600200"/>
          </a:xfrm>
        </p:spPr>
        <p:txBody>
          <a:bodyPr>
            <a:normAutofit/>
          </a:bodyPr>
          <a:lstStyle/>
          <a:p>
            <a:br>
              <a:rPr lang="en-US" sz="1600" b="1" dirty="0">
                <a:solidFill>
                  <a:schemeClr val="tx1">
                    <a:lumMod val="95000"/>
                    <a:lumOff val="5000"/>
                  </a:schemeClr>
                </a:solidFill>
                <a:effectLst/>
                <a:latin typeface="Consolas" panose="020B0609020204030204" pitchFamily="49" charset="0"/>
              </a:rPr>
            </a:br>
            <a:r>
              <a:rPr lang="en-US" sz="1600" b="1" i="1" dirty="0">
                <a:solidFill>
                  <a:schemeClr val="tx1">
                    <a:lumMod val="95000"/>
                    <a:lumOff val="5000"/>
                  </a:schemeClr>
                </a:solidFill>
                <a:effectLst/>
                <a:latin typeface="Consolas" panose="020B0609020204030204" pitchFamily="49" charset="0"/>
              </a:rPr>
              <a:t>-- Find passengers who paid more fare than the </a:t>
            </a:r>
            <a:r>
              <a:rPr lang="en-US" sz="1600" b="1" i="1" dirty="0">
                <a:solidFill>
                  <a:schemeClr val="tx1">
                    <a:lumMod val="95000"/>
                    <a:lumOff val="5000"/>
                  </a:schemeClr>
                </a:solidFill>
                <a:latin typeface="Consolas" panose="020B0609020204030204" pitchFamily="49" charset="0"/>
              </a:rPr>
              <a:t>min</a:t>
            </a:r>
            <a:r>
              <a:rPr lang="en-US" sz="1600" b="1" i="1" dirty="0">
                <a:solidFill>
                  <a:schemeClr val="tx1">
                    <a:lumMod val="95000"/>
                    <a:lumOff val="5000"/>
                  </a:schemeClr>
                </a:solidFill>
                <a:effectLst/>
                <a:latin typeface="Consolas" panose="020B0609020204030204" pitchFamily="49" charset="0"/>
              </a:rPr>
              <a:t> fare of all passengers.</a:t>
            </a:r>
            <a:br>
              <a:rPr lang="en-US" sz="1600" b="0" dirty="0">
                <a:solidFill>
                  <a:srgbClr val="EEFFFF"/>
                </a:solidFill>
                <a:effectLst/>
                <a:latin typeface="Consolas" panose="020B0609020204030204" pitchFamily="49" charset="0"/>
              </a:rPr>
            </a:br>
            <a:endParaRPr lang="en-IN" sz="1600" b="1" i="1" dirty="0">
              <a:solidFill>
                <a:schemeClr val="tx1">
                  <a:lumMod val="95000"/>
                  <a:lumOff val="5000"/>
                </a:schemeClr>
              </a:solidFill>
            </a:endParaRPr>
          </a:p>
        </p:txBody>
      </p:sp>
      <p:sp>
        <p:nvSpPr>
          <p:cNvPr id="3" name="TextBox 2">
            <a:extLst>
              <a:ext uri="{FF2B5EF4-FFF2-40B4-BE49-F238E27FC236}">
                <a16:creationId xmlns:a16="http://schemas.microsoft.com/office/drawing/2014/main" id="{6713EFF6-F881-614F-AF67-2B334A0B2206}"/>
              </a:ext>
            </a:extLst>
          </p:cNvPr>
          <p:cNvSpPr txBox="1"/>
          <p:nvPr/>
        </p:nvSpPr>
        <p:spPr>
          <a:xfrm>
            <a:off x="4812768" y="2690336"/>
            <a:ext cx="6838762" cy="2308324"/>
          </a:xfrm>
          <a:prstGeom prst="rect">
            <a:avLst/>
          </a:prstGeom>
          <a:noFill/>
        </p:spPr>
        <p:txBody>
          <a:bodyPr wrap="square">
            <a:spAutoFit/>
          </a:bodyPr>
          <a:lstStyle/>
          <a:p>
            <a:r>
              <a:rPr lang="en-IN" sz="2400" b="0" dirty="0">
                <a:solidFill>
                  <a:schemeClr val="tx1">
                    <a:lumMod val="95000"/>
                    <a:lumOff val="5000"/>
                  </a:schemeClr>
                </a:solidFill>
                <a:effectLst/>
                <a:latin typeface="Consolas" panose="020B0609020204030204" pitchFamily="49" charset="0"/>
              </a:rPr>
              <a:t>select * from passenger p</a:t>
            </a:r>
          </a:p>
          <a:p>
            <a:r>
              <a:rPr lang="en-IN" sz="2400" b="0" dirty="0">
                <a:solidFill>
                  <a:schemeClr val="tx1">
                    <a:lumMod val="95000"/>
                    <a:lumOff val="5000"/>
                  </a:schemeClr>
                </a:solidFill>
                <a:effectLst/>
                <a:latin typeface="Consolas" panose="020B0609020204030204" pitchFamily="49" charset="0"/>
              </a:rPr>
              <a:t>inner join ticket t</a:t>
            </a:r>
          </a:p>
          <a:p>
            <a:r>
              <a:rPr lang="en-IN" sz="2400" b="0" dirty="0">
                <a:solidFill>
                  <a:schemeClr val="tx1">
                    <a:lumMod val="95000"/>
                    <a:lumOff val="5000"/>
                  </a:schemeClr>
                </a:solidFill>
                <a:effectLst/>
                <a:latin typeface="Consolas" panose="020B0609020204030204" pitchFamily="49" charset="0"/>
              </a:rPr>
              <a:t>on </a:t>
            </a:r>
            <a:r>
              <a:rPr lang="en-IN" sz="2400" b="0" dirty="0" err="1">
                <a:solidFill>
                  <a:schemeClr val="tx1">
                    <a:lumMod val="95000"/>
                    <a:lumOff val="5000"/>
                  </a:schemeClr>
                </a:solidFill>
                <a:effectLst/>
                <a:latin typeface="Consolas" panose="020B0609020204030204" pitchFamily="49" charset="0"/>
              </a:rPr>
              <a:t>p.passenger_id</a:t>
            </a:r>
            <a:r>
              <a:rPr lang="en-IN" sz="2400" b="0" dirty="0">
                <a:solidFill>
                  <a:schemeClr val="tx1">
                    <a:lumMod val="95000"/>
                    <a:lumOff val="5000"/>
                  </a:schemeClr>
                </a:solidFill>
                <a:effectLst/>
                <a:latin typeface="Consolas" panose="020B0609020204030204" pitchFamily="49" charset="0"/>
              </a:rPr>
              <a:t>=</a:t>
            </a:r>
            <a:r>
              <a:rPr lang="en-IN" sz="2400" b="0" dirty="0" err="1">
                <a:solidFill>
                  <a:schemeClr val="tx1">
                    <a:lumMod val="95000"/>
                    <a:lumOff val="5000"/>
                  </a:schemeClr>
                </a:solidFill>
                <a:effectLst/>
                <a:latin typeface="Consolas" panose="020B0609020204030204" pitchFamily="49" charset="0"/>
              </a:rPr>
              <a:t>t.passenger_id</a:t>
            </a:r>
            <a:endParaRPr lang="en-IN" sz="2400" b="0" dirty="0">
              <a:solidFill>
                <a:schemeClr val="tx1">
                  <a:lumMod val="95000"/>
                  <a:lumOff val="5000"/>
                </a:schemeClr>
              </a:solidFill>
              <a:effectLst/>
              <a:latin typeface="Consolas" panose="020B0609020204030204" pitchFamily="49" charset="0"/>
            </a:endParaRPr>
          </a:p>
          <a:p>
            <a:r>
              <a:rPr lang="en-IN" sz="2400" b="0" dirty="0">
                <a:solidFill>
                  <a:schemeClr val="tx1">
                    <a:lumMod val="95000"/>
                    <a:lumOff val="5000"/>
                  </a:schemeClr>
                </a:solidFill>
                <a:effectLst/>
                <a:latin typeface="Consolas" panose="020B0609020204030204" pitchFamily="49" charset="0"/>
              </a:rPr>
              <a:t>where </a:t>
            </a:r>
            <a:r>
              <a:rPr lang="en-IN" sz="2400" b="0" dirty="0" err="1">
                <a:solidFill>
                  <a:schemeClr val="tx1">
                    <a:lumMod val="95000"/>
                    <a:lumOff val="5000"/>
                  </a:schemeClr>
                </a:solidFill>
                <a:effectLst/>
                <a:latin typeface="Consolas" panose="020B0609020204030204" pitchFamily="49" charset="0"/>
              </a:rPr>
              <a:t>t.fare</a:t>
            </a:r>
            <a:r>
              <a:rPr lang="en-IN" sz="2400" b="0" dirty="0">
                <a:solidFill>
                  <a:schemeClr val="tx1">
                    <a:lumMod val="95000"/>
                    <a:lumOff val="5000"/>
                  </a:schemeClr>
                </a:solidFill>
                <a:effectLst/>
                <a:latin typeface="Consolas" panose="020B0609020204030204" pitchFamily="49" charset="0"/>
              </a:rPr>
              <a:t> &gt;(</a:t>
            </a:r>
          </a:p>
          <a:p>
            <a:r>
              <a:rPr lang="en-IN" sz="2400" b="0" dirty="0">
                <a:solidFill>
                  <a:schemeClr val="tx1">
                    <a:lumMod val="95000"/>
                    <a:lumOff val="5000"/>
                  </a:schemeClr>
                </a:solidFill>
                <a:effectLst/>
                <a:latin typeface="Consolas" panose="020B0609020204030204" pitchFamily="49" charset="0"/>
              </a:rPr>
              <a:t>select min(fare) from ticket);</a:t>
            </a:r>
          </a:p>
          <a:p>
            <a:r>
              <a:rPr lang="en-IN" sz="2400" b="0" dirty="0">
                <a:solidFill>
                  <a:schemeClr val="tx1">
                    <a:lumMod val="95000"/>
                    <a:lumOff val="5000"/>
                  </a:schemeClr>
                </a:solidFill>
                <a:effectLst/>
                <a:latin typeface="Consolas" panose="020B0609020204030204" pitchFamily="49" charset="0"/>
              </a:rPr>
              <a:t>ticket);</a:t>
            </a:r>
          </a:p>
        </p:txBody>
      </p:sp>
      <p:pic>
        <p:nvPicPr>
          <p:cNvPr id="11" name="Picture 10" descr="A black screen with white text">
            <a:extLst>
              <a:ext uri="{FF2B5EF4-FFF2-40B4-BE49-F238E27FC236}">
                <a16:creationId xmlns:a16="http://schemas.microsoft.com/office/drawing/2014/main" id="{EA6D4409-C63C-8192-63DE-90372FD2C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3735" y="5433301"/>
            <a:ext cx="3261643" cy="1112616"/>
          </a:xfrm>
          <a:prstGeom prst="rect">
            <a:avLst/>
          </a:prstGeom>
        </p:spPr>
      </p:pic>
      <p:pic>
        <p:nvPicPr>
          <p:cNvPr id="13" name="Picture 12" descr="A screen shot of a black screen&#10;&#10;AI-generated content may be incorrect.">
            <a:extLst>
              <a:ext uri="{FF2B5EF4-FFF2-40B4-BE49-F238E27FC236}">
                <a16:creationId xmlns:a16="http://schemas.microsoft.com/office/drawing/2014/main" id="{9A468F3F-1D87-9361-0A66-E5E4DF775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85" y="1919388"/>
            <a:ext cx="2537680" cy="4244708"/>
          </a:xfrm>
          <a:prstGeom prst="rect">
            <a:avLst/>
          </a:prstGeom>
        </p:spPr>
      </p:pic>
    </p:spTree>
    <p:extLst>
      <p:ext uri="{BB962C8B-B14F-4D97-AF65-F5344CB8AC3E}">
        <p14:creationId xmlns:p14="http://schemas.microsoft.com/office/powerpoint/2010/main" val="2249083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DEEB28-FD76-0B78-2C4F-1AD734603C3E}"/>
              </a:ext>
            </a:extLst>
          </p:cNvPr>
          <p:cNvSpPr>
            <a:spLocks noGrp="1"/>
          </p:cNvSpPr>
          <p:nvPr>
            <p:ph type="body" idx="1"/>
          </p:nvPr>
        </p:nvSpPr>
        <p:spPr>
          <a:xfrm>
            <a:off x="5010539" y="2528596"/>
            <a:ext cx="6439548" cy="3547459"/>
          </a:xfrm>
        </p:spPr>
        <p:txBody>
          <a:bodyPr>
            <a:noAutofit/>
          </a:bodyPr>
          <a:lstStyle/>
          <a:p>
            <a:r>
              <a:rPr lang="en-IN" sz="1800" b="0" dirty="0">
                <a:solidFill>
                  <a:schemeClr val="tx1">
                    <a:lumMod val="95000"/>
                    <a:lumOff val="5000"/>
                  </a:schemeClr>
                </a:solidFill>
                <a:effectLst/>
                <a:latin typeface="Consolas" panose="020B0609020204030204" pitchFamily="49" charset="0"/>
              </a:rPr>
              <a:t>select </a:t>
            </a:r>
            <a:r>
              <a:rPr lang="en-IN" sz="1800" b="0" dirty="0" err="1">
                <a:solidFill>
                  <a:schemeClr val="tx1">
                    <a:lumMod val="95000"/>
                    <a:lumOff val="5000"/>
                  </a:schemeClr>
                </a:solidFill>
                <a:effectLst/>
                <a:latin typeface="Consolas" panose="020B0609020204030204" pitchFamily="49" charset="0"/>
              </a:rPr>
              <a:t>t.train_id,t.train_name</a:t>
            </a:r>
            <a:r>
              <a:rPr lang="en-IN" sz="1800" b="0" dirty="0">
                <a:solidFill>
                  <a:schemeClr val="tx1">
                    <a:lumMod val="95000"/>
                    <a:lumOff val="5000"/>
                  </a:schemeClr>
                </a:solidFill>
                <a:effectLst/>
                <a:latin typeface="Consolas" panose="020B0609020204030204" pitchFamily="49" charset="0"/>
              </a:rPr>
              <a:t> from train t</a:t>
            </a:r>
          </a:p>
          <a:p>
            <a:r>
              <a:rPr lang="en-IN" sz="1800" b="0" dirty="0">
                <a:solidFill>
                  <a:schemeClr val="tx1">
                    <a:lumMod val="95000"/>
                    <a:lumOff val="5000"/>
                  </a:schemeClr>
                </a:solidFill>
                <a:effectLst/>
                <a:latin typeface="Consolas" panose="020B0609020204030204" pitchFamily="49" charset="0"/>
              </a:rPr>
              <a:t>join coach c</a:t>
            </a:r>
          </a:p>
          <a:p>
            <a:r>
              <a:rPr lang="en-IN" sz="1800" b="0" dirty="0">
                <a:solidFill>
                  <a:schemeClr val="tx1">
                    <a:lumMod val="95000"/>
                    <a:lumOff val="5000"/>
                  </a:schemeClr>
                </a:solidFill>
                <a:effectLst/>
                <a:latin typeface="Consolas" panose="020B0609020204030204" pitchFamily="49" charset="0"/>
              </a:rPr>
              <a:t>on </a:t>
            </a:r>
            <a:r>
              <a:rPr lang="en-IN" sz="1800" b="0" dirty="0" err="1">
                <a:solidFill>
                  <a:schemeClr val="tx1">
                    <a:lumMod val="95000"/>
                    <a:lumOff val="5000"/>
                  </a:schemeClr>
                </a:solidFill>
                <a:effectLst/>
                <a:latin typeface="Consolas" panose="020B0609020204030204" pitchFamily="49" charset="0"/>
              </a:rPr>
              <a:t>t.train_id</a:t>
            </a:r>
            <a:r>
              <a:rPr lang="en-IN" sz="1800" b="0" dirty="0">
                <a:solidFill>
                  <a:schemeClr val="tx1">
                    <a:lumMod val="95000"/>
                    <a:lumOff val="5000"/>
                  </a:schemeClr>
                </a:solidFill>
                <a:effectLst/>
                <a:latin typeface="Consolas" panose="020B0609020204030204" pitchFamily="49" charset="0"/>
              </a:rPr>
              <a:t>=</a:t>
            </a:r>
            <a:r>
              <a:rPr lang="en-IN" sz="1800" b="0" dirty="0" err="1">
                <a:solidFill>
                  <a:schemeClr val="tx1">
                    <a:lumMod val="95000"/>
                    <a:lumOff val="5000"/>
                  </a:schemeClr>
                </a:solidFill>
                <a:effectLst/>
                <a:latin typeface="Consolas" panose="020B0609020204030204" pitchFamily="49" charset="0"/>
              </a:rPr>
              <a:t>c.train_id</a:t>
            </a:r>
            <a:endParaRPr lang="en-IN" sz="1800" b="0" dirty="0">
              <a:solidFill>
                <a:schemeClr val="tx1">
                  <a:lumMod val="95000"/>
                  <a:lumOff val="5000"/>
                </a:schemeClr>
              </a:solidFill>
              <a:effectLst/>
              <a:latin typeface="Consolas" panose="020B0609020204030204" pitchFamily="49" charset="0"/>
            </a:endParaRPr>
          </a:p>
          <a:p>
            <a:r>
              <a:rPr lang="en-IN" sz="1800" b="0" dirty="0">
                <a:solidFill>
                  <a:schemeClr val="tx1">
                    <a:lumMod val="95000"/>
                    <a:lumOff val="5000"/>
                  </a:schemeClr>
                </a:solidFill>
                <a:effectLst/>
                <a:latin typeface="Consolas" panose="020B0609020204030204" pitchFamily="49" charset="0"/>
              </a:rPr>
              <a:t>group by </a:t>
            </a:r>
            <a:r>
              <a:rPr lang="en-IN" sz="1800" b="0" dirty="0" err="1">
                <a:solidFill>
                  <a:schemeClr val="tx1">
                    <a:lumMod val="95000"/>
                    <a:lumOff val="5000"/>
                  </a:schemeClr>
                </a:solidFill>
                <a:effectLst/>
                <a:latin typeface="Consolas" panose="020B0609020204030204" pitchFamily="49" charset="0"/>
              </a:rPr>
              <a:t>t.train_id,t.train_name</a:t>
            </a:r>
            <a:endParaRPr lang="en-IN" sz="1800" b="0" dirty="0">
              <a:solidFill>
                <a:schemeClr val="tx1">
                  <a:lumMod val="95000"/>
                  <a:lumOff val="5000"/>
                </a:schemeClr>
              </a:solidFill>
              <a:effectLst/>
              <a:latin typeface="Consolas" panose="020B0609020204030204" pitchFamily="49" charset="0"/>
            </a:endParaRPr>
          </a:p>
          <a:p>
            <a:r>
              <a:rPr lang="en-IN" sz="1800" b="0" dirty="0">
                <a:solidFill>
                  <a:schemeClr val="tx1">
                    <a:lumMod val="95000"/>
                    <a:lumOff val="5000"/>
                  </a:schemeClr>
                </a:solidFill>
                <a:effectLst/>
                <a:latin typeface="Consolas" panose="020B0609020204030204" pitchFamily="49" charset="0"/>
              </a:rPr>
              <a:t>having count(</a:t>
            </a:r>
            <a:r>
              <a:rPr lang="en-IN" sz="1800" b="0" dirty="0" err="1">
                <a:solidFill>
                  <a:schemeClr val="tx1">
                    <a:lumMod val="95000"/>
                    <a:lumOff val="5000"/>
                  </a:schemeClr>
                </a:solidFill>
                <a:effectLst/>
                <a:latin typeface="Consolas" panose="020B0609020204030204" pitchFamily="49" charset="0"/>
              </a:rPr>
              <a:t>c.coach_id</a:t>
            </a:r>
            <a:r>
              <a:rPr lang="en-IN" sz="1800" b="0" dirty="0">
                <a:solidFill>
                  <a:schemeClr val="tx1">
                    <a:lumMod val="95000"/>
                    <a:lumOff val="5000"/>
                  </a:schemeClr>
                </a:solidFill>
                <a:effectLst/>
                <a:latin typeface="Consolas" panose="020B0609020204030204" pitchFamily="49" charset="0"/>
              </a:rPr>
              <a:t>)&gt;(</a:t>
            </a:r>
          </a:p>
          <a:p>
            <a:r>
              <a:rPr lang="en-IN" sz="1800" b="0" dirty="0">
                <a:solidFill>
                  <a:schemeClr val="tx1">
                    <a:lumMod val="95000"/>
                    <a:lumOff val="5000"/>
                  </a:schemeClr>
                </a:solidFill>
                <a:effectLst/>
                <a:latin typeface="Consolas" panose="020B0609020204030204" pitchFamily="49" charset="0"/>
              </a:rPr>
              <a:t>select </a:t>
            </a:r>
            <a:r>
              <a:rPr lang="en-IN" sz="1800" b="0" dirty="0" err="1">
                <a:solidFill>
                  <a:schemeClr val="tx1">
                    <a:lumMod val="95000"/>
                    <a:lumOff val="5000"/>
                  </a:schemeClr>
                </a:solidFill>
                <a:effectLst/>
                <a:latin typeface="Consolas" panose="020B0609020204030204" pitchFamily="49" charset="0"/>
              </a:rPr>
              <a:t>avg</a:t>
            </a:r>
            <a:r>
              <a:rPr lang="en-IN" sz="1800" b="0" dirty="0">
                <a:solidFill>
                  <a:schemeClr val="tx1">
                    <a:lumMod val="95000"/>
                    <a:lumOff val="5000"/>
                  </a:schemeClr>
                </a:solidFill>
                <a:effectLst/>
                <a:latin typeface="Consolas" panose="020B0609020204030204" pitchFamily="49" charset="0"/>
              </a:rPr>
              <a:t>(</a:t>
            </a:r>
            <a:r>
              <a:rPr lang="en-IN" sz="1800" b="0" dirty="0" err="1">
                <a:solidFill>
                  <a:schemeClr val="tx1">
                    <a:lumMod val="95000"/>
                    <a:lumOff val="5000"/>
                  </a:schemeClr>
                </a:solidFill>
                <a:effectLst/>
                <a:latin typeface="Consolas" panose="020B0609020204030204" pitchFamily="49" charset="0"/>
              </a:rPr>
              <a:t>avg_couch</a:t>
            </a:r>
            <a:r>
              <a:rPr lang="en-IN" sz="1800" b="0" dirty="0">
                <a:solidFill>
                  <a:schemeClr val="tx1">
                    <a:lumMod val="95000"/>
                    <a:lumOff val="5000"/>
                  </a:schemeClr>
                </a:solidFill>
                <a:effectLst/>
                <a:latin typeface="Consolas" panose="020B0609020204030204" pitchFamily="49" charset="0"/>
              </a:rPr>
              <a:t>) from (</a:t>
            </a:r>
          </a:p>
          <a:p>
            <a:r>
              <a:rPr lang="en-IN" sz="1800" b="0" dirty="0">
                <a:solidFill>
                  <a:schemeClr val="tx1">
                    <a:lumMod val="95000"/>
                    <a:lumOff val="5000"/>
                  </a:schemeClr>
                </a:solidFill>
                <a:effectLst/>
                <a:latin typeface="Consolas" panose="020B0609020204030204" pitchFamily="49" charset="0"/>
              </a:rPr>
              <a:t>select count(</a:t>
            </a:r>
            <a:r>
              <a:rPr lang="en-IN" sz="1800" b="0" dirty="0" err="1">
                <a:solidFill>
                  <a:schemeClr val="tx1">
                    <a:lumMod val="95000"/>
                    <a:lumOff val="5000"/>
                  </a:schemeClr>
                </a:solidFill>
                <a:effectLst/>
                <a:latin typeface="Consolas" panose="020B0609020204030204" pitchFamily="49" charset="0"/>
              </a:rPr>
              <a:t>coach_id</a:t>
            </a:r>
            <a:r>
              <a:rPr lang="en-IN" sz="1800" b="0" dirty="0">
                <a:solidFill>
                  <a:schemeClr val="tx1">
                    <a:lumMod val="95000"/>
                    <a:lumOff val="5000"/>
                  </a:schemeClr>
                </a:solidFill>
                <a:effectLst/>
                <a:latin typeface="Consolas" panose="020B0609020204030204" pitchFamily="49" charset="0"/>
              </a:rPr>
              <a:t>) as </a:t>
            </a:r>
            <a:r>
              <a:rPr lang="en-IN" sz="1800" b="0" dirty="0" err="1">
                <a:solidFill>
                  <a:schemeClr val="tx1">
                    <a:lumMod val="95000"/>
                    <a:lumOff val="5000"/>
                  </a:schemeClr>
                </a:solidFill>
                <a:effectLst/>
                <a:latin typeface="Consolas" panose="020B0609020204030204" pitchFamily="49" charset="0"/>
              </a:rPr>
              <a:t>avg_couch</a:t>
            </a:r>
            <a:r>
              <a:rPr lang="en-IN" sz="1800" b="0" dirty="0">
                <a:solidFill>
                  <a:schemeClr val="tx1">
                    <a:lumMod val="95000"/>
                    <a:lumOff val="5000"/>
                  </a:schemeClr>
                </a:solidFill>
                <a:effectLst/>
                <a:latin typeface="Consolas" panose="020B0609020204030204" pitchFamily="49" charset="0"/>
              </a:rPr>
              <a:t> from coach</a:t>
            </a:r>
          </a:p>
          <a:p>
            <a:r>
              <a:rPr lang="en-IN" sz="1800" b="0" dirty="0">
                <a:solidFill>
                  <a:schemeClr val="tx1">
                    <a:lumMod val="95000"/>
                    <a:lumOff val="5000"/>
                  </a:schemeClr>
                </a:solidFill>
                <a:effectLst/>
                <a:latin typeface="Consolas" panose="020B0609020204030204" pitchFamily="49" charset="0"/>
              </a:rPr>
              <a:t>group by </a:t>
            </a:r>
            <a:r>
              <a:rPr lang="en-IN" sz="1800" b="0" dirty="0" err="1">
                <a:solidFill>
                  <a:schemeClr val="tx1">
                    <a:lumMod val="95000"/>
                    <a:lumOff val="5000"/>
                  </a:schemeClr>
                </a:solidFill>
                <a:effectLst/>
                <a:latin typeface="Consolas" panose="020B0609020204030204" pitchFamily="49" charset="0"/>
              </a:rPr>
              <a:t>train_id</a:t>
            </a:r>
            <a:r>
              <a:rPr lang="en-IN" sz="1800" b="0" dirty="0">
                <a:solidFill>
                  <a:schemeClr val="tx1">
                    <a:lumMod val="95000"/>
                    <a:lumOff val="5000"/>
                  </a:schemeClr>
                </a:solidFill>
                <a:effectLst/>
                <a:latin typeface="Consolas" panose="020B0609020204030204" pitchFamily="49" charset="0"/>
              </a:rPr>
              <a:t>) </a:t>
            </a:r>
          </a:p>
          <a:p>
            <a:r>
              <a:rPr lang="en-IN" sz="1800" b="0" dirty="0">
                <a:solidFill>
                  <a:schemeClr val="tx1">
                    <a:lumMod val="95000"/>
                    <a:lumOff val="5000"/>
                  </a:schemeClr>
                </a:solidFill>
                <a:effectLst/>
                <a:latin typeface="Consolas" panose="020B0609020204030204" pitchFamily="49" charset="0"/>
              </a:rPr>
              <a:t>as sub);</a:t>
            </a:r>
          </a:p>
          <a:p>
            <a:br>
              <a:rPr lang="en-IN" sz="1800" b="0" dirty="0">
                <a:solidFill>
                  <a:schemeClr val="tx1">
                    <a:lumMod val="95000"/>
                    <a:lumOff val="5000"/>
                  </a:schemeClr>
                </a:solidFill>
                <a:effectLst/>
                <a:latin typeface="Consolas" panose="020B0609020204030204" pitchFamily="49" charset="0"/>
              </a:rPr>
            </a:br>
            <a:br>
              <a:rPr lang="en-IN" sz="1800" b="0" dirty="0">
                <a:solidFill>
                  <a:srgbClr val="EEFFFF"/>
                </a:solidFill>
                <a:effectLst/>
                <a:latin typeface="Consolas" panose="020B0609020204030204" pitchFamily="49" charset="0"/>
              </a:rPr>
            </a:br>
            <a:endParaRPr lang="en-IN" sz="1800" b="0" dirty="0">
              <a:solidFill>
                <a:srgbClr val="EEFFFF"/>
              </a:solidFill>
              <a:effectLst/>
              <a:latin typeface="Consolas" panose="020B0609020204030204" pitchFamily="49" charset="0"/>
            </a:endParaRPr>
          </a:p>
          <a:p>
            <a:endParaRPr lang="en-IN" sz="1800" dirty="0"/>
          </a:p>
        </p:txBody>
      </p:sp>
      <p:sp>
        <p:nvSpPr>
          <p:cNvPr id="4" name="Rectangle 3">
            <a:extLst>
              <a:ext uri="{FF2B5EF4-FFF2-40B4-BE49-F238E27FC236}">
                <a16:creationId xmlns:a16="http://schemas.microsoft.com/office/drawing/2014/main" id="{CBA9A2DA-4E6B-D66F-D902-98BC881F989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729B8D3-C7D7-F984-4431-88FB4B406778}"/>
              </a:ext>
            </a:extLst>
          </p:cNvPr>
          <p:cNvSpPr txBox="1"/>
          <p:nvPr/>
        </p:nvSpPr>
        <p:spPr>
          <a:xfrm>
            <a:off x="1175658" y="137013"/>
            <a:ext cx="8416212" cy="1815882"/>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2</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B6737596-C1F0-DD79-F407-21150E3942A9}"/>
              </a:ext>
            </a:extLst>
          </p:cNvPr>
          <p:cNvSpPr txBox="1">
            <a:spLocks/>
          </p:cNvSpPr>
          <p:nvPr/>
        </p:nvSpPr>
        <p:spPr>
          <a:xfrm>
            <a:off x="507976" y="1334278"/>
            <a:ext cx="10343526" cy="38377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1400" b="1" dirty="0">
                <a:solidFill>
                  <a:schemeClr val="tx1">
                    <a:lumMod val="95000"/>
                    <a:lumOff val="5000"/>
                  </a:schemeClr>
                </a:solidFill>
                <a:effectLst/>
                <a:latin typeface="Consolas" panose="020B0609020204030204" pitchFamily="49" charset="0"/>
              </a:rPr>
            </a:br>
            <a:r>
              <a:rPr lang="en-US" sz="1400" b="1" i="1" dirty="0">
                <a:solidFill>
                  <a:schemeClr val="tx1">
                    <a:lumMod val="95000"/>
                    <a:lumOff val="5000"/>
                  </a:schemeClr>
                </a:solidFill>
                <a:effectLst/>
                <a:latin typeface="Consolas" panose="020B0609020204030204" pitchFamily="49" charset="0"/>
              </a:rPr>
              <a:t>-- - Display train names that have more coaches than the average number of coaches per train.</a:t>
            </a:r>
            <a:endParaRPr lang="en-US" sz="1400" b="1" dirty="0">
              <a:solidFill>
                <a:schemeClr val="tx1">
                  <a:lumMod val="95000"/>
                  <a:lumOff val="5000"/>
                </a:schemeClr>
              </a:solidFill>
              <a:effectLst/>
              <a:latin typeface="Consolas" panose="020B0609020204030204" pitchFamily="49" charset="0"/>
            </a:endParaRPr>
          </a:p>
        </p:txBody>
      </p:sp>
      <p:pic>
        <p:nvPicPr>
          <p:cNvPr id="8" name="Picture 7" descr="A black screen with white text&#10;&#10;AI-generated content may be incorrect.">
            <a:extLst>
              <a:ext uri="{FF2B5EF4-FFF2-40B4-BE49-F238E27FC236}">
                <a16:creationId xmlns:a16="http://schemas.microsoft.com/office/drawing/2014/main" id="{1A279A9E-26CD-F06E-0CC5-4EA00C19E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76" y="3128146"/>
            <a:ext cx="3964175" cy="1570885"/>
          </a:xfrm>
          <a:prstGeom prst="rect">
            <a:avLst/>
          </a:prstGeom>
        </p:spPr>
      </p:pic>
    </p:spTree>
    <p:extLst>
      <p:ext uri="{BB962C8B-B14F-4D97-AF65-F5344CB8AC3E}">
        <p14:creationId xmlns:p14="http://schemas.microsoft.com/office/powerpoint/2010/main" val="1494151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3</a:t>
            </a:r>
          </a:p>
        </p:txBody>
      </p:sp>
      <p:sp>
        <p:nvSpPr>
          <p:cNvPr id="2" name="Title 1">
            <a:extLst>
              <a:ext uri="{FF2B5EF4-FFF2-40B4-BE49-F238E27FC236}">
                <a16:creationId xmlns:a16="http://schemas.microsoft.com/office/drawing/2014/main" id="{00755609-3912-694F-6088-90BA37E49A4D}"/>
              </a:ext>
            </a:extLst>
          </p:cNvPr>
          <p:cNvSpPr>
            <a:spLocks noGrp="1"/>
          </p:cNvSpPr>
          <p:nvPr>
            <p:ph type="title"/>
          </p:nvPr>
        </p:nvSpPr>
        <p:spPr>
          <a:xfrm>
            <a:off x="233265" y="993642"/>
            <a:ext cx="11863783" cy="620554"/>
          </a:xfrm>
        </p:spPr>
        <p:txBody>
          <a:bodyPr>
            <a:normAutofit/>
          </a:bodyPr>
          <a:lstStyle/>
          <a:p>
            <a:r>
              <a:rPr lang="en-US" sz="1800" b="1" i="1" dirty="0">
                <a:solidFill>
                  <a:schemeClr val="tx1">
                    <a:lumMod val="95000"/>
                    <a:lumOff val="5000"/>
                  </a:schemeClr>
                </a:solidFill>
                <a:effectLst/>
                <a:latin typeface="Consolas" panose="020B0609020204030204" pitchFamily="49" charset="0"/>
              </a:rPr>
              <a:t> Find passengers who paid the second highest fare.</a:t>
            </a:r>
            <a:endParaRPr lang="en-US" sz="1800" b="1" dirty="0">
              <a:solidFill>
                <a:schemeClr val="tx1">
                  <a:lumMod val="95000"/>
                  <a:lumOff val="5000"/>
                </a:schemeClr>
              </a:solidFill>
              <a:effectLst/>
              <a:latin typeface="Consolas" panose="020B0609020204030204" pitchFamily="49" charset="0"/>
            </a:endParaRPr>
          </a:p>
        </p:txBody>
      </p:sp>
      <p:pic>
        <p:nvPicPr>
          <p:cNvPr id="6" name="Picture 5" descr="A black screen with white text">
            <a:extLst>
              <a:ext uri="{FF2B5EF4-FFF2-40B4-BE49-F238E27FC236}">
                <a16:creationId xmlns:a16="http://schemas.microsoft.com/office/drawing/2014/main" id="{A44445B7-DECB-297E-C0F6-C517F475E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224" y="2984800"/>
            <a:ext cx="4014928" cy="1492848"/>
          </a:xfrm>
          <a:prstGeom prst="rect">
            <a:avLst/>
          </a:prstGeom>
        </p:spPr>
      </p:pic>
      <p:sp>
        <p:nvSpPr>
          <p:cNvPr id="7" name="TextBox 6">
            <a:extLst>
              <a:ext uri="{FF2B5EF4-FFF2-40B4-BE49-F238E27FC236}">
                <a16:creationId xmlns:a16="http://schemas.microsoft.com/office/drawing/2014/main" id="{3935BB84-A373-E31C-EA81-1C5EEA0AB3B2}"/>
              </a:ext>
            </a:extLst>
          </p:cNvPr>
          <p:cNvSpPr txBox="1"/>
          <p:nvPr/>
        </p:nvSpPr>
        <p:spPr>
          <a:xfrm>
            <a:off x="5355770" y="2453952"/>
            <a:ext cx="5243806" cy="2554545"/>
          </a:xfrm>
          <a:prstGeom prst="rect">
            <a:avLst/>
          </a:prstGeom>
          <a:noFill/>
        </p:spPr>
        <p:txBody>
          <a:bodyPr wrap="square">
            <a:spAutoFit/>
          </a:bodyPr>
          <a:lstStyle/>
          <a:p>
            <a:r>
              <a:rPr lang="en-IN" sz="2000" b="0" dirty="0">
                <a:solidFill>
                  <a:schemeClr val="tx1">
                    <a:lumMod val="95000"/>
                    <a:lumOff val="5000"/>
                  </a:schemeClr>
                </a:solidFill>
                <a:effectLst/>
                <a:latin typeface="Consolas" panose="020B0609020204030204" pitchFamily="49" charset="0"/>
              </a:rPr>
              <a:t>select  </a:t>
            </a:r>
            <a:r>
              <a:rPr lang="en-IN" sz="2000" b="0" dirty="0" err="1">
                <a:solidFill>
                  <a:schemeClr val="tx1">
                    <a:lumMod val="95000"/>
                    <a:lumOff val="5000"/>
                  </a:schemeClr>
                </a:solidFill>
                <a:effectLst/>
                <a:latin typeface="Consolas" panose="020B0609020204030204" pitchFamily="49" charset="0"/>
              </a:rPr>
              <a:t>t.fare</a:t>
            </a:r>
            <a:r>
              <a:rPr lang="en-IN" sz="2000" b="0" dirty="0">
                <a:solidFill>
                  <a:schemeClr val="tx1">
                    <a:lumMod val="95000"/>
                    <a:lumOff val="5000"/>
                  </a:schemeClr>
                </a:solidFill>
                <a:effectLst/>
                <a:latin typeface="Consolas" panose="020B0609020204030204" pitchFamily="49" charset="0"/>
              </a:rPr>
              <a:t>, p.name from passenger p</a:t>
            </a:r>
          </a:p>
          <a:p>
            <a:r>
              <a:rPr lang="en-IN" sz="2000" b="0" dirty="0">
                <a:solidFill>
                  <a:schemeClr val="tx1">
                    <a:lumMod val="95000"/>
                    <a:lumOff val="5000"/>
                  </a:schemeClr>
                </a:solidFill>
                <a:effectLst/>
                <a:latin typeface="Consolas" panose="020B0609020204030204" pitchFamily="49" charset="0"/>
              </a:rPr>
              <a:t>join ticket t</a:t>
            </a:r>
          </a:p>
          <a:p>
            <a:r>
              <a:rPr lang="en-IN" sz="2000" b="0" dirty="0">
                <a:solidFill>
                  <a:schemeClr val="tx1">
                    <a:lumMod val="95000"/>
                    <a:lumOff val="5000"/>
                  </a:schemeClr>
                </a:solidFill>
                <a:effectLst/>
                <a:latin typeface="Consolas" panose="020B0609020204030204" pitchFamily="49" charset="0"/>
              </a:rPr>
              <a:t>on </a:t>
            </a:r>
            <a:r>
              <a:rPr lang="en-IN" sz="2000" b="0" dirty="0" err="1">
                <a:solidFill>
                  <a:schemeClr val="tx1">
                    <a:lumMod val="95000"/>
                    <a:lumOff val="5000"/>
                  </a:schemeClr>
                </a:solidFill>
                <a:effectLst/>
                <a:latin typeface="Consolas" panose="020B0609020204030204" pitchFamily="49" charset="0"/>
              </a:rPr>
              <a:t>p.passenger_id</a:t>
            </a:r>
            <a:r>
              <a:rPr lang="en-IN" sz="2000" b="0" dirty="0">
                <a:solidFill>
                  <a:schemeClr val="tx1">
                    <a:lumMod val="95000"/>
                    <a:lumOff val="5000"/>
                  </a:schemeClr>
                </a:solidFill>
                <a:effectLst/>
                <a:latin typeface="Consolas" panose="020B0609020204030204" pitchFamily="49" charset="0"/>
              </a:rPr>
              <a:t>=</a:t>
            </a:r>
            <a:r>
              <a:rPr lang="en-IN" sz="2000" b="0" dirty="0" err="1">
                <a:solidFill>
                  <a:schemeClr val="tx1">
                    <a:lumMod val="95000"/>
                    <a:lumOff val="5000"/>
                  </a:schemeClr>
                </a:solidFill>
                <a:effectLst/>
                <a:latin typeface="Consolas" panose="020B0609020204030204" pitchFamily="49" charset="0"/>
              </a:rPr>
              <a:t>t.passenger_id</a:t>
            </a:r>
            <a:endParaRPr lang="en-IN" sz="2000" b="0" dirty="0">
              <a:solidFill>
                <a:schemeClr val="tx1">
                  <a:lumMod val="95000"/>
                  <a:lumOff val="5000"/>
                </a:schemeClr>
              </a:solidFill>
              <a:effectLst/>
              <a:latin typeface="Consolas" panose="020B0609020204030204" pitchFamily="49" charset="0"/>
            </a:endParaRPr>
          </a:p>
          <a:p>
            <a:r>
              <a:rPr lang="en-IN" sz="2000" b="0" dirty="0">
                <a:solidFill>
                  <a:schemeClr val="tx1">
                    <a:lumMod val="95000"/>
                    <a:lumOff val="5000"/>
                  </a:schemeClr>
                </a:solidFill>
                <a:effectLst/>
                <a:latin typeface="Consolas" panose="020B0609020204030204" pitchFamily="49" charset="0"/>
              </a:rPr>
              <a:t>where </a:t>
            </a:r>
            <a:r>
              <a:rPr lang="en-IN" sz="2000" b="0" dirty="0" err="1">
                <a:solidFill>
                  <a:schemeClr val="tx1">
                    <a:lumMod val="95000"/>
                    <a:lumOff val="5000"/>
                  </a:schemeClr>
                </a:solidFill>
                <a:effectLst/>
                <a:latin typeface="Consolas" panose="020B0609020204030204" pitchFamily="49" charset="0"/>
              </a:rPr>
              <a:t>t.fare</a:t>
            </a:r>
            <a:r>
              <a:rPr lang="en-IN" sz="2000" b="0" dirty="0">
                <a:solidFill>
                  <a:schemeClr val="tx1">
                    <a:lumMod val="95000"/>
                    <a:lumOff val="5000"/>
                  </a:schemeClr>
                </a:solidFill>
                <a:effectLst/>
                <a:latin typeface="Consolas" panose="020B0609020204030204" pitchFamily="49" charset="0"/>
              </a:rPr>
              <a:t> =</a:t>
            </a:r>
          </a:p>
          <a:p>
            <a:r>
              <a:rPr lang="en-IN" sz="2000" b="0" dirty="0">
                <a:solidFill>
                  <a:schemeClr val="tx1">
                    <a:lumMod val="95000"/>
                    <a:lumOff val="5000"/>
                  </a:schemeClr>
                </a:solidFill>
                <a:effectLst/>
                <a:latin typeface="Consolas" panose="020B0609020204030204" pitchFamily="49" charset="0"/>
              </a:rPr>
              <a:t>(select max(fare) from ticket </a:t>
            </a:r>
          </a:p>
          <a:p>
            <a:r>
              <a:rPr lang="en-IN" sz="2000" b="0" dirty="0">
                <a:solidFill>
                  <a:schemeClr val="tx1">
                    <a:lumMod val="95000"/>
                    <a:lumOff val="5000"/>
                  </a:schemeClr>
                </a:solidFill>
                <a:effectLst/>
                <a:latin typeface="Consolas" panose="020B0609020204030204" pitchFamily="49" charset="0"/>
              </a:rPr>
              <a:t>where fare&lt; (select max(fare) from ticket</a:t>
            </a:r>
            <a:r>
              <a:rPr lang="en-IN" sz="2000" b="0" dirty="0">
                <a:solidFill>
                  <a:srgbClr val="EEFFFF"/>
                </a:solidFill>
                <a:effectLst/>
                <a:latin typeface="Consolas" panose="020B0609020204030204" pitchFamily="49" charset="0"/>
              </a:rPr>
              <a:t>) );</a:t>
            </a:r>
          </a:p>
        </p:txBody>
      </p:sp>
    </p:spTree>
    <p:extLst>
      <p:ext uri="{BB962C8B-B14F-4D97-AF65-F5344CB8AC3E}">
        <p14:creationId xmlns:p14="http://schemas.microsoft.com/office/powerpoint/2010/main" val="229735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523220"/>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3</a:t>
            </a:r>
          </a:p>
        </p:txBody>
      </p:sp>
      <p:sp>
        <p:nvSpPr>
          <p:cNvPr id="2" name="Title 1">
            <a:extLst>
              <a:ext uri="{FF2B5EF4-FFF2-40B4-BE49-F238E27FC236}">
                <a16:creationId xmlns:a16="http://schemas.microsoft.com/office/drawing/2014/main" id="{00755609-3912-694F-6088-90BA37E49A4D}"/>
              </a:ext>
            </a:extLst>
          </p:cNvPr>
          <p:cNvSpPr>
            <a:spLocks noGrp="1"/>
          </p:cNvSpPr>
          <p:nvPr>
            <p:ph type="title"/>
          </p:nvPr>
        </p:nvSpPr>
        <p:spPr>
          <a:xfrm>
            <a:off x="233265" y="993641"/>
            <a:ext cx="11863783" cy="1378987"/>
          </a:xfrm>
        </p:spPr>
        <p:txBody>
          <a:bodyPr>
            <a:normAutofit fontScale="90000"/>
          </a:bodyPr>
          <a:lstStyle/>
          <a:p>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br>
              <a:rPr lang="en-US" sz="1400" b="1" dirty="0">
                <a:solidFill>
                  <a:schemeClr val="tx1">
                    <a:lumMod val="95000"/>
                    <a:lumOff val="5000"/>
                  </a:schemeClr>
                </a:solidFill>
                <a:effectLst/>
                <a:latin typeface="Consolas" panose="020B0609020204030204" pitchFamily="49" charset="0"/>
              </a:rPr>
            </a:br>
            <a:r>
              <a:rPr lang="en-US" sz="1400" b="1" dirty="0">
                <a:solidFill>
                  <a:schemeClr val="tx1">
                    <a:lumMod val="95000"/>
                    <a:lumOff val="5000"/>
                  </a:schemeClr>
                </a:solidFill>
                <a:effectLst/>
                <a:latin typeface="Consolas" panose="020B0609020204030204" pitchFamily="49" charset="0"/>
              </a:rPr>
              <a:t>-- Find the names of passengers who paid a fare greater than the maximum fare paid by any passenger boarding from the station named “Mumbai Central”.</a:t>
            </a:r>
            <a:br>
              <a:rPr lang="en-US" sz="1400" b="0" dirty="0">
                <a:solidFill>
                  <a:srgbClr val="EEFFFF"/>
                </a:solidFill>
                <a:effectLst/>
                <a:latin typeface="Consolas" panose="020B0609020204030204" pitchFamily="49" charset="0"/>
              </a:rPr>
            </a:br>
            <a:br>
              <a:rPr lang="en-US" sz="1400" b="0" dirty="0">
                <a:solidFill>
                  <a:srgbClr val="EEFFFF"/>
                </a:solidFill>
                <a:effectLst/>
                <a:latin typeface="Consolas" panose="020B0609020204030204" pitchFamily="49" charset="0"/>
              </a:rPr>
            </a:br>
            <a:br>
              <a:rPr lang="en-US" sz="1400" b="0" dirty="0">
                <a:solidFill>
                  <a:srgbClr val="EEFFFF"/>
                </a:solidFill>
                <a:effectLst/>
                <a:latin typeface="Consolas" panose="020B0609020204030204" pitchFamily="49" charset="0"/>
              </a:rPr>
            </a:br>
            <a:endParaRPr lang="en-US" sz="1800" b="1" dirty="0">
              <a:solidFill>
                <a:schemeClr val="tx1">
                  <a:lumMod val="95000"/>
                  <a:lumOff val="5000"/>
                </a:schemeClr>
              </a:solidFill>
              <a:effectLst/>
              <a:latin typeface="Consolas" panose="020B0609020204030204" pitchFamily="49" charset="0"/>
            </a:endParaRPr>
          </a:p>
        </p:txBody>
      </p:sp>
      <p:sp>
        <p:nvSpPr>
          <p:cNvPr id="7" name="TextBox 6">
            <a:extLst>
              <a:ext uri="{FF2B5EF4-FFF2-40B4-BE49-F238E27FC236}">
                <a16:creationId xmlns:a16="http://schemas.microsoft.com/office/drawing/2014/main" id="{3935BB84-A373-E31C-EA81-1C5EEA0AB3B2}"/>
              </a:ext>
            </a:extLst>
          </p:cNvPr>
          <p:cNvSpPr txBox="1"/>
          <p:nvPr/>
        </p:nvSpPr>
        <p:spPr>
          <a:xfrm>
            <a:off x="5787310" y="2362526"/>
            <a:ext cx="5243806" cy="400110"/>
          </a:xfrm>
          <a:prstGeom prst="rect">
            <a:avLst/>
          </a:prstGeom>
          <a:noFill/>
        </p:spPr>
        <p:txBody>
          <a:bodyPr wrap="square">
            <a:spAutoFit/>
          </a:bodyPr>
          <a:lstStyle/>
          <a:p>
            <a:r>
              <a:rPr lang="en-IN" sz="2000" b="0" dirty="0">
                <a:solidFill>
                  <a:srgbClr val="EEFFFF"/>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4DDDA68D-1E52-1099-0CF6-CE5AE57AC7E4}"/>
              </a:ext>
            </a:extLst>
          </p:cNvPr>
          <p:cNvSpPr txBox="1"/>
          <p:nvPr/>
        </p:nvSpPr>
        <p:spPr>
          <a:xfrm>
            <a:off x="5787310" y="2526514"/>
            <a:ext cx="6106886" cy="2308324"/>
          </a:xfrm>
          <a:prstGeom prst="rect">
            <a:avLst/>
          </a:prstGeom>
          <a:noFill/>
        </p:spPr>
        <p:txBody>
          <a:bodyPr wrap="square">
            <a:spAutoFit/>
          </a:bodyPr>
          <a:lstStyle/>
          <a:p>
            <a:r>
              <a:rPr lang="en-IN" b="0" dirty="0">
                <a:solidFill>
                  <a:schemeClr val="tx1">
                    <a:lumMod val="95000"/>
                    <a:lumOff val="5000"/>
                  </a:schemeClr>
                </a:solidFill>
                <a:effectLst/>
                <a:latin typeface="Consolas" panose="020B0609020204030204" pitchFamily="49" charset="0"/>
              </a:rPr>
              <a:t>select * from passenger p</a:t>
            </a:r>
          </a:p>
          <a:p>
            <a:r>
              <a:rPr lang="en-IN" b="0" dirty="0">
                <a:solidFill>
                  <a:schemeClr val="tx1">
                    <a:lumMod val="95000"/>
                    <a:lumOff val="5000"/>
                  </a:schemeClr>
                </a:solidFill>
                <a:effectLst/>
                <a:latin typeface="Consolas" panose="020B0609020204030204" pitchFamily="49" charset="0"/>
              </a:rPr>
              <a:t>inner join ticket t</a:t>
            </a:r>
          </a:p>
          <a:p>
            <a:r>
              <a:rPr lang="en-IN" b="0" dirty="0">
                <a:solidFill>
                  <a:schemeClr val="tx1">
                    <a:lumMod val="95000"/>
                    <a:lumOff val="5000"/>
                  </a:schemeClr>
                </a:solidFill>
                <a:effectLst/>
                <a:latin typeface="Consolas" panose="020B0609020204030204" pitchFamily="49" charset="0"/>
              </a:rPr>
              <a:t>on </a:t>
            </a:r>
            <a:r>
              <a:rPr lang="en-IN" b="0" dirty="0" err="1">
                <a:solidFill>
                  <a:schemeClr val="tx1">
                    <a:lumMod val="95000"/>
                    <a:lumOff val="5000"/>
                  </a:schemeClr>
                </a:solidFill>
                <a:effectLst/>
                <a:latin typeface="Consolas" panose="020B0609020204030204" pitchFamily="49" charset="0"/>
              </a:rPr>
              <a:t>p.passenger_id</a:t>
            </a:r>
            <a:r>
              <a:rPr lang="en-IN" b="0" dirty="0">
                <a:solidFill>
                  <a:schemeClr val="tx1">
                    <a:lumMod val="95000"/>
                    <a:lumOff val="5000"/>
                  </a:schemeClr>
                </a:solidFill>
                <a:effectLst/>
                <a:latin typeface="Consolas" panose="020B0609020204030204" pitchFamily="49" charset="0"/>
              </a:rPr>
              <a:t>=</a:t>
            </a:r>
            <a:r>
              <a:rPr lang="en-IN" b="0" dirty="0" err="1">
                <a:solidFill>
                  <a:schemeClr val="tx1">
                    <a:lumMod val="95000"/>
                    <a:lumOff val="5000"/>
                  </a:schemeClr>
                </a:solidFill>
                <a:effectLst/>
                <a:latin typeface="Consolas" panose="020B0609020204030204" pitchFamily="49" charset="0"/>
              </a:rPr>
              <a:t>t.passenger_id</a:t>
            </a:r>
            <a:endParaRPr lang="en-IN" b="0" dirty="0">
              <a:solidFill>
                <a:schemeClr val="tx1">
                  <a:lumMod val="95000"/>
                  <a:lumOff val="5000"/>
                </a:schemeClr>
              </a:solidFill>
              <a:effectLst/>
              <a:latin typeface="Consolas" panose="020B0609020204030204" pitchFamily="49" charset="0"/>
            </a:endParaRPr>
          </a:p>
          <a:p>
            <a:r>
              <a:rPr lang="en-IN" b="0" dirty="0">
                <a:solidFill>
                  <a:schemeClr val="tx1">
                    <a:lumMod val="95000"/>
                    <a:lumOff val="5000"/>
                  </a:schemeClr>
                </a:solidFill>
                <a:effectLst/>
                <a:latin typeface="Consolas" panose="020B0609020204030204" pitchFamily="49" charset="0"/>
              </a:rPr>
              <a:t>where </a:t>
            </a:r>
            <a:r>
              <a:rPr lang="en-IN" b="0" dirty="0" err="1">
                <a:solidFill>
                  <a:schemeClr val="tx1">
                    <a:lumMod val="95000"/>
                    <a:lumOff val="5000"/>
                  </a:schemeClr>
                </a:solidFill>
                <a:effectLst/>
                <a:latin typeface="Consolas" panose="020B0609020204030204" pitchFamily="49" charset="0"/>
              </a:rPr>
              <a:t>t.fare</a:t>
            </a:r>
            <a:r>
              <a:rPr lang="en-IN" b="0" dirty="0">
                <a:solidFill>
                  <a:schemeClr val="tx1">
                    <a:lumMod val="95000"/>
                    <a:lumOff val="5000"/>
                  </a:schemeClr>
                </a:solidFill>
                <a:effectLst/>
                <a:latin typeface="Consolas" panose="020B0609020204030204" pitchFamily="49" charset="0"/>
              </a:rPr>
              <a:t>&gt;(</a:t>
            </a:r>
          </a:p>
          <a:p>
            <a:r>
              <a:rPr lang="en-IN" b="0" dirty="0">
                <a:solidFill>
                  <a:schemeClr val="tx1">
                    <a:lumMod val="95000"/>
                    <a:lumOff val="5000"/>
                  </a:schemeClr>
                </a:solidFill>
                <a:effectLst/>
                <a:latin typeface="Consolas" panose="020B0609020204030204" pitchFamily="49" charset="0"/>
              </a:rPr>
              <a:t>select </a:t>
            </a:r>
            <a:r>
              <a:rPr lang="en-IN" b="0" dirty="0" err="1">
                <a:solidFill>
                  <a:schemeClr val="tx1">
                    <a:lumMod val="95000"/>
                    <a:lumOff val="5000"/>
                  </a:schemeClr>
                </a:solidFill>
                <a:effectLst/>
                <a:latin typeface="Consolas" panose="020B0609020204030204" pitchFamily="49" charset="0"/>
              </a:rPr>
              <a:t>avg</a:t>
            </a:r>
            <a:r>
              <a:rPr lang="en-IN" b="0" dirty="0">
                <a:solidFill>
                  <a:schemeClr val="tx1">
                    <a:lumMod val="95000"/>
                    <a:lumOff val="5000"/>
                  </a:schemeClr>
                </a:solidFill>
                <a:effectLst/>
                <a:latin typeface="Consolas" panose="020B0609020204030204" pitchFamily="49" charset="0"/>
              </a:rPr>
              <a:t>(</a:t>
            </a:r>
            <a:r>
              <a:rPr lang="en-IN" b="0" dirty="0" err="1">
                <a:solidFill>
                  <a:schemeClr val="tx1">
                    <a:lumMod val="95000"/>
                    <a:lumOff val="5000"/>
                  </a:schemeClr>
                </a:solidFill>
                <a:effectLst/>
                <a:latin typeface="Consolas" panose="020B0609020204030204" pitchFamily="49" charset="0"/>
              </a:rPr>
              <a:t>t.fare</a:t>
            </a:r>
            <a:r>
              <a:rPr lang="en-IN" b="0" dirty="0">
                <a:solidFill>
                  <a:schemeClr val="tx1">
                    <a:lumMod val="95000"/>
                    <a:lumOff val="5000"/>
                  </a:schemeClr>
                </a:solidFill>
                <a:effectLst/>
                <a:latin typeface="Consolas" panose="020B0609020204030204" pitchFamily="49" charset="0"/>
              </a:rPr>
              <a:t>) from ticket t</a:t>
            </a:r>
          </a:p>
          <a:p>
            <a:r>
              <a:rPr lang="en-IN" b="0" dirty="0">
                <a:solidFill>
                  <a:schemeClr val="tx1">
                    <a:lumMod val="95000"/>
                    <a:lumOff val="5000"/>
                  </a:schemeClr>
                </a:solidFill>
                <a:effectLst/>
                <a:latin typeface="Consolas" panose="020B0609020204030204" pitchFamily="49" charset="0"/>
              </a:rPr>
              <a:t>join station s</a:t>
            </a:r>
          </a:p>
          <a:p>
            <a:r>
              <a:rPr lang="en-IN" b="0" dirty="0">
                <a:solidFill>
                  <a:schemeClr val="tx1">
                    <a:lumMod val="95000"/>
                    <a:lumOff val="5000"/>
                  </a:schemeClr>
                </a:solidFill>
                <a:effectLst/>
                <a:latin typeface="Consolas" panose="020B0609020204030204" pitchFamily="49" charset="0"/>
              </a:rPr>
              <a:t>on </a:t>
            </a:r>
            <a:r>
              <a:rPr lang="en-IN" b="0" dirty="0" err="1">
                <a:solidFill>
                  <a:schemeClr val="tx1">
                    <a:lumMod val="95000"/>
                    <a:lumOff val="5000"/>
                  </a:schemeClr>
                </a:solidFill>
                <a:effectLst/>
                <a:latin typeface="Consolas" panose="020B0609020204030204" pitchFamily="49" charset="0"/>
              </a:rPr>
              <a:t>t.station_id</a:t>
            </a:r>
            <a:r>
              <a:rPr lang="en-IN" b="0" dirty="0">
                <a:solidFill>
                  <a:schemeClr val="tx1">
                    <a:lumMod val="95000"/>
                    <a:lumOff val="5000"/>
                  </a:schemeClr>
                </a:solidFill>
                <a:effectLst/>
                <a:latin typeface="Consolas" panose="020B0609020204030204" pitchFamily="49" charset="0"/>
              </a:rPr>
              <a:t>=</a:t>
            </a:r>
            <a:r>
              <a:rPr lang="en-IN" b="0" dirty="0" err="1">
                <a:solidFill>
                  <a:schemeClr val="tx1">
                    <a:lumMod val="95000"/>
                    <a:lumOff val="5000"/>
                  </a:schemeClr>
                </a:solidFill>
                <a:effectLst/>
                <a:latin typeface="Consolas" panose="020B0609020204030204" pitchFamily="49" charset="0"/>
              </a:rPr>
              <a:t>s.station_id</a:t>
            </a:r>
            <a:endParaRPr lang="en-IN" b="0" dirty="0">
              <a:solidFill>
                <a:schemeClr val="tx1">
                  <a:lumMod val="95000"/>
                  <a:lumOff val="5000"/>
                </a:schemeClr>
              </a:solidFill>
              <a:effectLst/>
              <a:latin typeface="Consolas" panose="020B0609020204030204" pitchFamily="49" charset="0"/>
            </a:endParaRPr>
          </a:p>
          <a:p>
            <a:r>
              <a:rPr lang="en-IN" b="0" dirty="0">
                <a:solidFill>
                  <a:schemeClr val="tx1">
                    <a:lumMod val="95000"/>
                    <a:lumOff val="5000"/>
                  </a:schemeClr>
                </a:solidFill>
                <a:effectLst/>
                <a:latin typeface="Consolas" panose="020B0609020204030204" pitchFamily="49" charset="0"/>
              </a:rPr>
              <a:t>where </a:t>
            </a:r>
            <a:r>
              <a:rPr lang="en-IN" b="0" dirty="0" err="1">
                <a:solidFill>
                  <a:schemeClr val="tx1">
                    <a:lumMod val="95000"/>
                    <a:lumOff val="5000"/>
                  </a:schemeClr>
                </a:solidFill>
                <a:effectLst/>
                <a:latin typeface="Consolas" panose="020B0609020204030204" pitchFamily="49" charset="0"/>
              </a:rPr>
              <a:t>s.station_name</a:t>
            </a:r>
            <a:r>
              <a:rPr lang="en-IN" b="0" dirty="0">
                <a:solidFill>
                  <a:schemeClr val="tx1">
                    <a:lumMod val="95000"/>
                    <a:lumOff val="5000"/>
                  </a:schemeClr>
                </a:solidFill>
                <a:effectLst/>
                <a:latin typeface="Consolas" panose="020B0609020204030204" pitchFamily="49" charset="0"/>
              </a:rPr>
              <a:t>="Mumbai Central");</a:t>
            </a:r>
          </a:p>
        </p:txBody>
      </p:sp>
      <p:pic>
        <p:nvPicPr>
          <p:cNvPr id="10" name="Picture 9" descr="A black screen with white text">
            <a:extLst>
              <a:ext uri="{FF2B5EF4-FFF2-40B4-BE49-F238E27FC236}">
                <a16:creationId xmlns:a16="http://schemas.microsoft.com/office/drawing/2014/main" id="{968ED7E3-8455-6725-DB71-B33163A85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37" y="2648794"/>
            <a:ext cx="5174428" cy="1836579"/>
          </a:xfrm>
          <a:prstGeom prst="rect">
            <a:avLst/>
          </a:prstGeom>
        </p:spPr>
      </p:pic>
    </p:spTree>
    <p:extLst>
      <p:ext uri="{BB962C8B-B14F-4D97-AF65-F5344CB8AC3E}">
        <p14:creationId xmlns:p14="http://schemas.microsoft.com/office/powerpoint/2010/main" val="129810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147257"/>
            <a:ext cx="8416212" cy="1815882"/>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4</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001B398E-7BB3-B070-F112-45A803FEF9BE}"/>
              </a:ext>
            </a:extLst>
          </p:cNvPr>
          <p:cNvSpPr>
            <a:spLocks noGrp="1"/>
          </p:cNvSpPr>
          <p:nvPr>
            <p:ph type="title"/>
          </p:nvPr>
        </p:nvSpPr>
        <p:spPr>
          <a:xfrm>
            <a:off x="507976" y="1334278"/>
            <a:ext cx="10343526" cy="383774"/>
          </a:xfrm>
        </p:spPr>
        <p:txBody>
          <a:bodyPr>
            <a:normAutofit fontScale="90000"/>
          </a:bodyPr>
          <a:lstStyle/>
          <a:p>
            <a:r>
              <a:rPr lang="en-US" sz="1600" b="1" i="1" dirty="0">
                <a:solidFill>
                  <a:schemeClr val="tx1">
                    <a:lumMod val="95000"/>
                    <a:lumOff val="5000"/>
                  </a:schemeClr>
                </a:solidFill>
                <a:effectLst/>
                <a:latin typeface="Consolas" panose="020B0609020204030204" pitchFamily="49" charset="0"/>
              </a:rPr>
              <a:t>--Find train names where fare is greater than the average fare of that train.</a:t>
            </a:r>
            <a:br>
              <a:rPr lang="en-US" sz="1100" b="0" dirty="0">
                <a:solidFill>
                  <a:srgbClr val="EEFFFF"/>
                </a:solidFill>
                <a:effectLst/>
                <a:latin typeface="Consolas" panose="020B0609020204030204" pitchFamily="49" charset="0"/>
              </a:rPr>
            </a:br>
            <a:br>
              <a:rPr lang="en-US" sz="1800" b="1" dirty="0">
                <a:solidFill>
                  <a:schemeClr val="tx1">
                    <a:lumMod val="95000"/>
                    <a:lumOff val="5000"/>
                  </a:schemeClr>
                </a:solidFill>
                <a:effectLst/>
                <a:latin typeface="Consolas" panose="020B0609020204030204" pitchFamily="49" charset="0"/>
              </a:rPr>
            </a:br>
            <a:endParaRPr lang="en-IN" sz="1800" b="1" dirty="0">
              <a:solidFill>
                <a:schemeClr val="tx1">
                  <a:lumMod val="95000"/>
                  <a:lumOff val="5000"/>
                </a:schemeClr>
              </a:solidFill>
            </a:endParaRPr>
          </a:p>
        </p:txBody>
      </p:sp>
      <p:pic>
        <p:nvPicPr>
          <p:cNvPr id="9" name="Picture 8" descr="A black screen with white text&#10;&#10;AI-generated content may be incorrect.">
            <a:extLst>
              <a:ext uri="{FF2B5EF4-FFF2-40B4-BE49-F238E27FC236}">
                <a16:creationId xmlns:a16="http://schemas.microsoft.com/office/drawing/2014/main" id="{110869D2-BCD5-4A27-1173-F99E81BB6C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76" y="3181291"/>
            <a:ext cx="3543607" cy="1005927"/>
          </a:xfrm>
          <a:prstGeom prst="rect">
            <a:avLst/>
          </a:prstGeom>
        </p:spPr>
      </p:pic>
      <p:sp>
        <p:nvSpPr>
          <p:cNvPr id="17" name="TextBox 16">
            <a:extLst>
              <a:ext uri="{FF2B5EF4-FFF2-40B4-BE49-F238E27FC236}">
                <a16:creationId xmlns:a16="http://schemas.microsoft.com/office/drawing/2014/main" id="{896961AE-9494-497D-1F0F-525A29A4D354}"/>
              </a:ext>
            </a:extLst>
          </p:cNvPr>
          <p:cNvSpPr txBox="1"/>
          <p:nvPr/>
        </p:nvSpPr>
        <p:spPr>
          <a:xfrm>
            <a:off x="5605095" y="2828231"/>
            <a:ext cx="5804620" cy="2031325"/>
          </a:xfrm>
          <a:prstGeom prst="rect">
            <a:avLst/>
          </a:prstGeom>
          <a:noFill/>
        </p:spPr>
        <p:txBody>
          <a:bodyPr wrap="square">
            <a:spAutoFit/>
          </a:bodyPr>
          <a:lstStyle/>
          <a:p>
            <a:br>
              <a:rPr lang="en-US" dirty="0">
                <a:solidFill>
                  <a:schemeClr val="tx1">
                    <a:lumMod val="95000"/>
                    <a:lumOff val="5000"/>
                  </a:schemeClr>
                </a:solidFill>
                <a:effectLst/>
                <a:latin typeface="Consolas" panose="020B0609020204030204" pitchFamily="49" charset="0"/>
              </a:rPr>
            </a:br>
            <a:r>
              <a:rPr lang="en-US" dirty="0">
                <a:solidFill>
                  <a:schemeClr val="tx1">
                    <a:lumMod val="95000"/>
                    <a:lumOff val="5000"/>
                  </a:schemeClr>
                </a:solidFill>
                <a:effectLst/>
                <a:latin typeface="Consolas" panose="020B0609020204030204" pitchFamily="49" charset="0"/>
              </a:rPr>
              <a:t>select * from train t</a:t>
            </a:r>
          </a:p>
          <a:p>
            <a:r>
              <a:rPr lang="en-US" dirty="0">
                <a:solidFill>
                  <a:schemeClr val="tx1">
                    <a:lumMod val="95000"/>
                    <a:lumOff val="5000"/>
                  </a:schemeClr>
                </a:solidFill>
                <a:effectLst/>
                <a:latin typeface="Consolas" panose="020B0609020204030204" pitchFamily="49" charset="0"/>
              </a:rPr>
              <a:t>join ticket t1</a:t>
            </a:r>
          </a:p>
          <a:p>
            <a:r>
              <a:rPr lang="en-US" dirty="0">
                <a:solidFill>
                  <a:schemeClr val="tx1">
                    <a:lumMod val="95000"/>
                    <a:lumOff val="5000"/>
                  </a:schemeClr>
                </a:solidFill>
                <a:effectLst/>
                <a:latin typeface="Consolas" panose="020B0609020204030204" pitchFamily="49" charset="0"/>
              </a:rPr>
              <a:t>on </a:t>
            </a:r>
            <a:r>
              <a:rPr lang="en-US" dirty="0" err="1">
                <a:solidFill>
                  <a:schemeClr val="tx1">
                    <a:lumMod val="95000"/>
                    <a:lumOff val="5000"/>
                  </a:schemeClr>
                </a:solidFill>
                <a:effectLst/>
                <a:latin typeface="Consolas" panose="020B0609020204030204" pitchFamily="49" charset="0"/>
              </a:rPr>
              <a:t>t.train_id</a:t>
            </a:r>
            <a:r>
              <a:rPr lang="en-US" dirty="0">
                <a:solidFill>
                  <a:schemeClr val="tx1">
                    <a:lumMod val="95000"/>
                    <a:lumOff val="5000"/>
                  </a:schemeClr>
                </a:solidFill>
                <a:effectLst/>
                <a:latin typeface="Consolas" panose="020B0609020204030204" pitchFamily="49" charset="0"/>
              </a:rPr>
              <a:t>=t1.train_id</a:t>
            </a:r>
          </a:p>
          <a:p>
            <a:r>
              <a:rPr lang="en-US" dirty="0">
                <a:solidFill>
                  <a:schemeClr val="tx1">
                    <a:lumMod val="95000"/>
                    <a:lumOff val="5000"/>
                  </a:schemeClr>
                </a:solidFill>
                <a:effectLst/>
                <a:latin typeface="Consolas" panose="020B0609020204030204" pitchFamily="49" charset="0"/>
              </a:rPr>
              <a:t>where fare &gt;(select avg(fare) from ticket t3 where t1.train_id=t3.train_id)</a:t>
            </a:r>
          </a:p>
          <a:p>
            <a:endParaRPr lang="en-IN" b="0" dirty="0">
              <a:solidFill>
                <a:srgbClr val="EEFFFF"/>
              </a:solidFill>
              <a:effectLst/>
              <a:latin typeface="Consolas" panose="020B0609020204030204" pitchFamily="49" charset="0"/>
            </a:endParaRPr>
          </a:p>
        </p:txBody>
      </p:sp>
      <p:pic>
        <p:nvPicPr>
          <p:cNvPr id="7" name="Picture 6">
            <a:extLst>
              <a:ext uri="{FF2B5EF4-FFF2-40B4-BE49-F238E27FC236}">
                <a16:creationId xmlns:a16="http://schemas.microsoft.com/office/drawing/2014/main" id="{C07B657E-EF7D-C411-EBE2-1D3AA98E5E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01" y="1583766"/>
            <a:ext cx="9419136" cy="853514"/>
          </a:xfrm>
          <a:prstGeom prst="rect">
            <a:avLst/>
          </a:prstGeom>
        </p:spPr>
      </p:pic>
    </p:spTree>
    <p:extLst>
      <p:ext uri="{BB962C8B-B14F-4D97-AF65-F5344CB8AC3E}">
        <p14:creationId xmlns:p14="http://schemas.microsoft.com/office/powerpoint/2010/main" val="4067271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1384995"/>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Subquery 5</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001B398E-7BB3-B070-F112-45A803FEF9BE}"/>
              </a:ext>
            </a:extLst>
          </p:cNvPr>
          <p:cNvSpPr>
            <a:spLocks noGrp="1"/>
          </p:cNvSpPr>
          <p:nvPr>
            <p:ph type="title"/>
          </p:nvPr>
        </p:nvSpPr>
        <p:spPr>
          <a:xfrm>
            <a:off x="507976" y="1334278"/>
            <a:ext cx="10343526" cy="383774"/>
          </a:xfrm>
        </p:spPr>
        <p:txBody>
          <a:bodyPr>
            <a:normAutofit fontScale="90000"/>
          </a:bodyPr>
          <a:lstStyle/>
          <a:p>
            <a:r>
              <a:rPr lang="en-US" sz="1800" b="1" dirty="0">
                <a:solidFill>
                  <a:schemeClr val="tx1">
                    <a:lumMod val="95000"/>
                    <a:lumOff val="5000"/>
                  </a:schemeClr>
                </a:solidFill>
                <a:effectLst/>
                <a:latin typeface="Consolas" panose="020B0609020204030204" pitchFamily="49" charset="0"/>
              </a:rPr>
              <a:t>-- find the name, fare, station  of passengers who booked tickets at stations of type “Central”.</a:t>
            </a:r>
            <a:endParaRPr lang="en-US" sz="1000" b="0" dirty="0">
              <a:solidFill>
                <a:srgbClr val="EEFFFF"/>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896961AE-9494-497D-1F0F-525A29A4D354}"/>
              </a:ext>
            </a:extLst>
          </p:cNvPr>
          <p:cNvSpPr txBox="1"/>
          <p:nvPr/>
        </p:nvSpPr>
        <p:spPr>
          <a:xfrm>
            <a:off x="5605095" y="2828232"/>
            <a:ext cx="4854521" cy="4247317"/>
          </a:xfrm>
          <a:prstGeom prst="rect">
            <a:avLst/>
          </a:prstGeom>
          <a:noFill/>
        </p:spPr>
        <p:txBody>
          <a:bodyPr wrap="square">
            <a:spAutoFit/>
          </a:bodyPr>
          <a:lstStyle/>
          <a:p>
            <a:r>
              <a:rPr lang="en-IN" b="0" dirty="0">
                <a:solidFill>
                  <a:schemeClr val="tx1">
                    <a:lumMod val="95000"/>
                    <a:lumOff val="5000"/>
                  </a:schemeClr>
                </a:solidFill>
                <a:effectLst/>
                <a:latin typeface="Consolas" panose="020B0609020204030204" pitchFamily="49" charset="0"/>
              </a:rPr>
              <a:t>select </a:t>
            </a:r>
            <a:r>
              <a:rPr lang="en-IN" b="0" dirty="0" err="1">
                <a:solidFill>
                  <a:schemeClr val="tx1">
                    <a:lumMod val="95000"/>
                    <a:lumOff val="5000"/>
                  </a:schemeClr>
                </a:solidFill>
                <a:effectLst/>
                <a:latin typeface="Consolas" panose="020B0609020204030204" pitchFamily="49" charset="0"/>
              </a:rPr>
              <a:t>p.name,t.fare,s.station_name</a:t>
            </a:r>
            <a:r>
              <a:rPr lang="en-IN" b="0" dirty="0">
                <a:solidFill>
                  <a:schemeClr val="tx1">
                    <a:lumMod val="95000"/>
                    <a:lumOff val="5000"/>
                  </a:schemeClr>
                </a:solidFill>
                <a:effectLst/>
                <a:latin typeface="Consolas" panose="020B0609020204030204" pitchFamily="49" charset="0"/>
              </a:rPr>
              <a:t> from station s</a:t>
            </a:r>
          </a:p>
          <a:p>
            <a:r>
              <a:rPr lang="en-IN" b="0" dirty="0">
                <a:solidFill>
                  <a:schemeClr val="tx1">
                    <a:lumMod val="95000"/>
                    <a:lumOff val="5000"/>
                  </a:schemeClr>
                </a:solidFill>
                <a:effectLst/>
                <a:latin typeface="Consolas" panose="020B0609020204030204" pitchFamily="49" charset="0"/>
              </a:rPr>
              <a:t>join ticket t</a:t>
            </a:r>
          </a:p>
          <a:p>
            <a:r>
              <a:rPr lang="en-IN" b="0" dirty="0">
                <a:solidFill>
                  <a:schemeClr val="tx1">
                    <a:lumMod val="95000"/>
                    <a:lumOff val="5000"/>
                  </a:schemeClr>
                </a:solidFill>
                <a:effectLst/>
                <a:latin typeface="Consolas" panose="020B0609020204030204" pitchFamily="49" charset="0"/>
              </a:rPr>
              <a:t>on </a:t>
            </a:r>
            <a:r>
              <a:rPr lang="en-IN" b="0" dirty="0" err="1">
                <a:solidFill>
                  <a:schemeClr val="tx1">
                    <a:lumMod val="95000"/>
                    <a:lumOff val="5000"/>
                  </a:schemeClr>
                </a:solidFill>
                <a:effectLst/>
                <a:latin typeface="Consolas" panose="020B0609020204030204" pitchFamily="49" charset="0"/>
              </a:rPr>
              <a:t>s.station_id</a:t>
            </a:r>
            <a:r>
              <a:rPr lang="en-IN" b="0" dirty="0">
                <a:solidFill>
                  <a:schemeClr val="tx1">
                    <a:lumMod val="95000"/>
                    <a:lumOff val="5000"/>
                  </a:schemeClr>
                </a:solidFill>
                <a:effectLst/>
                <a:latin typeface="Consolas" panose="020B0609020204030204" pitchFamily="49" charset="0"/>
              </a:rPr>
              <a:t>=</a:t>
            </a:r>
            <a:r>
              <a:rPr lang="en-IN" b="0" dirty="0" err="1">
                <a:solidFill>
                  <a:schemeClr val="tx1">
                    <a:lumMod val="95000"/>
                    <a:lumOff val="5000"/>
                  </a:schemeClr>
                </a:solidFill>
                <a:effectLst/>
                <a:latin typeface="Consolas" panose="020B0609020204030204" pitchFamily="49" charset="0"/>
              </a:rPr>
              <a:t>t.station_id</a:t>
            </a:r>
            <a:endParaRPr lang="en-IN" b="0" dirty="0">
              <a:solidFill>
                <a:schemeClr val="tx1">
                  <a:lumMod val="95000"/>
                  <a:lumOff val="5000"/>
                </a:schemeClr>
              </a:solidFill>
              <a:effectLst/>
              <a:latin typeface="Consolas" panose="020B0609020204030204" pitchFamily="49" charset="0"/>
            </a:endParaRPr>
          </a:p>
          <a:p>
            <a:r>
              <a:rPr lang="en-IN" b="0" dirty="0">
                <a:solidFill>
                  <a:schemeClr val="tx1">
                    <a:lumMod val="95000"/>
                    <a:lumOff val="5000"/>
                  </a:schemeClr>
                </a:solidFill>
                <a:effectLst/>
                <a:latin typeface="Consolas" panose="020B0609020204030204" pitchFamily="49" charset="0"/>
              </a:rPr>
              <a:t>join passenger p</a:t>
            </a:r>
          </a:p>
          <a:p>
            <a:r>
              <a:rPr lang="en-IN" b="0" dirty="0">
                <a:solidFill>
                  <a:schemeClr val="tx1">
                    <a:lumMod val="95000"/>
                    <a:lumOff val="5000"/>
                  </a:schemeClr>
                </a:solidFill>
                <a:effectLst/>
                <a:latin typeface="Consolas" panose="020B0609020204030204" pitchFamily="49" charset="0"/>
              </a:rPr>
              <a:t>on </a:t>
            </a:r>
            <a:r>
              <a:rPr lang="en-IN" b="0" dirty="0" err="1">
                <a:solidFill>
                  <a:schemeClr val="tx1">
                    <a:lumMod val="95000"/>
                    <a:lumOff val="5000"/>
                  </a:schemeClr>
                </a:solidFill>
                <a:effectLst/>
                <a:latin typeface="Consolas" panose="020B0609020204030204" pitchFamily="49" charset="0"/>
              </a:rPr>
              <a:t>p.passenger_id</a:t>
            </a:r>
            <a:r>
              <a:rPr lang="en-IN" b="0" dirty="0">
                <a:solidFill>
                  <a:schemeClr val="tx1">
                    <a:lumMod val="95000"/>
                    <a:lumOff val="5000"/>
                  </a:schemeClr>
                </a:solidFill>
                <a:effectLst/>
                <a:latin typeface="Consolas" panose="020B0609020204030204" pitchFamily="49" charset="0"/>
              </a:rPr>
              <a:t>=</a:t>
            </a:r>
            <a:r>
              <a:rPr lang="en-IN" b="0" dirty="0" err="1">
                <a:solidFill>
                  <a:schemeClr val="tx1">
                    <a:lumMod val="95000"/>
                    <a:lumOff val="5000"/>
                  </a:schemeClr>
                </a:solidFill>
                <a:effectLst/>
                <a:latin typeface="Consolas" panose="020B0609020204030204" pitchFamily="49" charset="0"/>
              </a:rPr>
              <a:t>t.passenger_id</a:t>
            </a:r>
            <a:endParaRPr lang="en-IN" b="0" dirty="0">
              <a:solidFill>
                <a:schemeClr val="tx1">
                  <a:lumMod val="95000"/>
                  <a:lumOff val="5000"/>
                </a:schemeClr>
              </a:solidFill>
              <a:effectLst/>
              <a:latin typeface="Consolas" panose="020B0609020204030204" pitchFamily="49" charset="0"/>
            </a:endParaRPr>
          </a:p>
          <a:p>
            <a:r>
              <a:rPr lang="en-IN" b="0" dirty="0">
                <a:solidFill>
                  <a:schemeClr val="tx1">
                    <a:lumMod val="95000"/>
                    <a:lumOff val="5000"/>
                  </a:schemeClr>
                </a:solidFill>
                <a:effectLst/>
                <a:latin typeface="Consolas" panose="020B0609020204030204" pitchFamily="49" charset="0"/>
              </a:rPr>
              <a:t>where </a:t>
            </a:r>
            <a:r>
              <a:rPr lang="en-IN" b="0" dirty="0" err="1">
                <a:solidFill>
                  <a:schemeClr val="tx1">
                    <a:lumMod val="95000"/>
                    <a:lumOff val="5000"/>
                  </a:schemeClr>
                </a:solidFill>
                <a:effectLst/>
                <a:latin typeface="Consolas" panose="020B0609020204030204" pitchFamily="49" charset="0"/>
              </a:rPr>
              <a:t>s.station_type</a:t>
            </a:r>
            <a:r>
              <a:rPr lang="en-IN" b="0" dirty="0">
                <a:solidFill>
                  <a:schemeClr val="tx1">
                    <a:lumMod val="95000"/>
                    <a:lumOff val="5000"/>
                  </a:schemeClr>
                </a:solidFill>
                <a:effectLst/>
                <a:latin typeface="Consolas" panose="020B0609020204030204" pitchFamily="49" charset="0"/>
              </a:rPr>
              <a:t> in (</a:t>
            </a:r>
          </a:p>
          <a:p>
            <a:br>
              <a:rPr lang="en-IN" b="0" dirty="0">
                <a:solidFill>
                  <a:schemeClr val="tx1">
                    <a:lumMod val="95000"/>
                    <a:lumOff val="5000"/>
                  </a:schemeClr>
                </a:solidFill>
                <a:effectLst/>
                <a:latin typeface="Consolas" panose="020B0609020204030204" pitchFamily="49" charset="0"/>
              </a:rPr>
            </a:br>
            <a:br>
              <a:rPr lang="en-IN" b="0" dirty="0">
                <a:solidFill>
                  <a:schemeClr val="tx1">
                    <a:lumMod val="95000"/>
                    <a:lumOff val="5000"/>
                  </a:schemeClr>
                </a:solidFill>
                <a:effectLst/>
                <a:latin typeface="Consolas" panose="020B0609020204030204" pitchFamily="49" charset="0"/>
              </a:rPr>
            </a:br>
            <a:r>
              <a:rPr lang="en-IN" b="0" dirty="0">
                <a:solidFill>
                  <a:schemeClr val="tx1">
                    <a:lumMod val="95000"/>
                    <a:lumOff val="5000"/>
                  </a:schemeClr>
                </a:solidFill>
                <a:effectLst/>
                <a:latin typeface="Consolas" panose="020B0609020204030204" pitchFamily="49" charset="0"/>
              </a:rPr>
              <a:t>    select </a:t>
            </a:r>
            <a:r>
              <a:rPr lang="en-IN" b="0" dirty="0" err="1">
                <a:solidFill>
                  <a:schemeClr val="tx1">
                    <a:lumMod val="95000"/>
                    <a:lumOff val="5000"/>
                  </a:schemeClr>
                </a:solidFill>
                <a:effectLst/>
                <a:latin typeface="Consolas" panose="020B0609020204030204" pitchFamily="49" charset="0"/>
              </a:rPr>
              <a:t>station_type</a:t>
            </a:r>
            <a:r>
              <a:rPr lang="en-IN" b="0" dirty="0">
                <a:solidFill>
                  <a:schemeClr val="tx1">
                    <a:lumMod val="95000"/>
                    <a:lumOff val="5000"/>
                  </a:schemeClr>
                </a:solidFill>
                <a:effectLst/>
                <a:latin typeface="Consolas" panose="020B0609020204030204" pitchFamily="49" charset="0"/>
              </a:rPr>
              <a:t> from station</a:t>
            </a:r>
          </a:p>
          <a:p>
            <a:r>
              <a:rPr lang="en-IN" b="0" dirty="0">
                <a:solidFill>
                  <a:schemeClr val="tx1">
                    <a:lumMod val="95000"/>
                    <a:lumOff val="5000"/>
                  </a:schemeClr>
                </a:solidFill>
                <a:effectLst/>
                <a:latin typeface="Consolas" panose="020B0609020204030204" pitchFamily="49" charset="0"/>
              </a:rPr>
              <a:t>where </a:t>
            </a:r>
            <a:r>
              <a:rPr lang="en-IN" b="0" dirty="0" err="1">
                <a:solidFill>
                  <a:schemeClr val="tx1">
                    <a:lumMod val="95000"/>
                    <a:lumOff val="5000"/>
                  </a:schemeClr>
                </a:solidFill>
                <a:effectLst/>
                <a:latin typeface="Consolas" panose="020B0609020204030204" pitchFamily="49" charset="0"/>
              </a:rPr>
              <a:t>station_Type</a:t>
            </a:r>
            <a:r>
              <a:rPr lang="en-IN" b="0" dirty="0">
                <a:solidFill>
                  <a:schemeClr val="tx1">
                    <a:lumMod val="95000"/>
                    <a:lumOff val="5000"/>
                  </a:schemeClr>
                </a:solidFill>
                <a:effectLst/>
                <a:latin typeface="Consolas" panose="020B0609020204030204" pitchFamily="49" charset="0"/>
              </a:rPr>
              <a:t>="central"</a:t>
            </a:r>
          </a:p>
          <a:p>
            <a:r>
              <a:rPr lang="en-IN" b="0" dirty="0">
                <a:solidFill>
                  <a:schemeClr val="tx1">
                    <a:lumMod val="95000"/>
                    <a:lumOff val="5000"/>
                  </a:schemeClr>
                </a:solidFill>
                <a:effectLst/>
                <a:latin typeface="Consolas" panose="020B0609020204030204" pitchFamily="49" charset="0"/>
              </a:rPr>
              <a:t>);</a:t>
            </a:r>
          </a:p>
          <a:p>
            <a:br>
              <a:rPr lang="en-IN" b="0" dirty="0">
                <a:solidFill>
                  <a:srgbClr val="EEFFFF"/>
                </a:solidFill>
                <a:effectLst/>
                <a:latin typeface="Consolas" panose="020B0609020204030204" pitchFamily="49" charset="0"/>
              </a:rPr>
            </a:br>
            <a:endParaRPr lang="en-IN" b="0" dirty="0">
              <a:solidFill>
                <a:srgbClr val="EEFFFF"/>
              </a:solidFill>
              <a:effectLst/>
              <a:latin typeface="Consolas" panose="020B0609020204030204" pitchFamily="49" charset="0"/>
            </a:endParaRPr>
          </a:p>
          <a:p>
            <a:endParaRPr lang="en-IN" b="0" dirty="0">
              <a:solidFill>
                <a:srgbClr val="EEFFFF"/>
              </a:solidFill>
              <a:effectLst/>
              <a:latin typeface="Consolas" panose="020B0609020204030204" pitchFamily="49" charset="0"/>
            </a:endParaRPr>
          </a:p>
        </p:txBody>
      </p:sp>
      <p:pic>
        <p:nvPicPr>
          <p:cNvPr id="6" name="Picture 5" descr="A black and white screen with white text">
            <a:extLst>
              <a:ext uri="{FF2B5EF4-FFF2-40B4-BE49-F238E27FC236}">
                <a16:creationId xmlns:a16="http://schemas.microsoft.com/office/drawing/2014/main" id="{538648EE-A66B-4ACF-06E8-E6D91D9A7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53" y="3388599"/>
            <a:ext cx="4658208" cy="1823192"/>
          </a:xfrm>
          <a:prstGeom prst="rect">
            <a:avLst/>
          </a:prstGeom>
        </p:spPr>
      </p:pic>
    </p:spTree>
    <p:extLst>
      <p:ext uri="{BB962C8B-B14F-4D97-AF65-F5344CB8AC3E}">
        <p14:creationId xmlns:p14="http://schemas.microsoft.com/office/powerpoint/2010/main" val="1565038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E1B1E-680C-1165-1CF8-DD821F9DC602}"/>
              </a:ext>
            </a:extLst>
          </p:cNvPr>
          <p:cNvSpPr>
            <a:spLocks noGrp="1"/>
          </p:cNvSpPr>
          <p:nvPr>
            <p:ph type="title"/>
          </p:nvPr>
        </p:nvSpPr>
        <p:spPr>
          <a:xfrm>
            <a:off x="838200" y="299812"/>
            <a:ext cx="10515600" cy="931830"/>
          </a:xfrm>
        </p:spPr>
        <p:txBody>
          <a:bodyPr>
            <a:normAutofit/>
          </a:bodyPr>
          <a:lstStyle/>
          <a:p>
            <a:pPr algn="ctr"/>
            <a:r>
              <a:rPr lang="en-IN" sz="3600" dirty="0"/>
              <a:t>JOINS IN SQL </a:t>
            </a:r>
          </a:p>
        </p:txBody>
      </p:sp>
      <p:pic>
        <p:nvPicPr>
          <p:cNvPr id="4" name="Picture 3" descr="A diagram of different types of table">
            <a:extLst>
              <a:ext uri="{FF2B5EF4-FFF2-40B4-BE49-F238E27FC236}">
                <a16:creationId xmlns:a16="http://schemas.microsoft.com/office/drawing/2014/main" id="{BB6FED84-867D-3C0F-AA24-E4E2B9026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7641" y="1782937"/>
            <a:ext cx="6074227" cy="3768777"/>
          </a:xfrm>
          <a:prstGeom prst="rect">
            <a:avLst/>
          </a:prstGeom>
        </p:spPr>
      </p:pic>
    </p:spTree>
    <p:extLst>
      <p:ext uri="{BB962C8B-B14F-4D97-AF65-F5344CB8AC3E}">
        <p14:creationId xmlns:p14="http://schemas.microsoft.com/office/powerpoint/2010/main" val="337403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954107"/>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Join 1</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599DF590-E59E-4886-470F-E396B0B2F48D}"/>
              </a:ext>
            </a:extLst>
          </p:cNvPr>
          <p:cNvSpPr>
            <a:spLocks noGrp="1"/>
          </p:cNvSpPr>
          <p:nvPr>
            <p:ph type="title"/>
          </p:nvPr>
        </p:nvSpPr>
        <p:spPr>
          <a:xfrm>
            <a:off x="839788" y="457200"/>
            <a:ext cx="10739502" cy="1600200"/>
          </a:xfrm>
        </p:spPr>
        <p:txBody>
          <a:bodyPr>
            <a:normAutofit/>
          </a:bodyPr>
          <a:lstStyle/>
          <a:p>
            <a:r>
              <a:rPr lang="en-US" sz="1800" b="1" i="1" dirty="0">
                <a:solidFill>
                  <a:schemeClr val="tx1">
                    <a:lumMod val="95000"/>
                    <a:lumOff val="5000"/>
                  </a:schemeClr>
                </a:solidFill>
                <a:effectLst/>
                <a:latin typeface="Consolas" panose="020B0609020204030204" pitchFamily="49" charset="0"/>
              </a:rPr>
              <a:t>-- List train name and total number of coaches available for each train</a:t>
            </a:r>
            <a:r>
              <a:rPr lang="en-US" b="0" i="1" dirty="0">
                <a:solidFill>
                  <a:schemeClr val="tx1">
                    <a:lumMod val="95000"/>
                    <a:lumOff val="5000"/>
                  </a:schemeClr>
                </a:solidFill>
                <a:effectLst/>
                <a:latin typeface="Consolas" panose="020B0609020204030204" pitchFamily="49" charset="0"/>
              </a:rPr>
              <a:t>.</a:t>
            </a:r>
            <a:br>
              <a:rPr lang="en-US" b="0" dirty="0">
                <a:solidFill>
                  <a:srgbClr val="EEFFFF"/>
                </a:solidFill>
                <a:effectLst/>
                <a:latin typeface="Consolas" panose="020B0609020204030204" pitchFamily="49" charset="0"/>
              </a:rPr>
            </a:br>
            <a:endParaRPr lang="en-IN" dirty="0"/>
          </a:p>
        </p:txBody>
      </p:sp>
      <p:sp>
        <p:nvSpPr>
          <p:cNvPr id="14" name="Picture Placeholder 10">
            <a:extLst>
              <a:ext uri="{FF2B5EF4-FFF2-40B4-BE49-F238E27FC236}">
                <a16:creationId xmlns:a16="http://schemas.microsoft.com/office/drawing/2014/main" id="{F47753D9-504B-0336-EE9C-ED2CF304E60D}"/>
              </a:ext>
            </a:extLst>
          </p:cNvPr>
          <p:cNvSpPr>
            <a:spLocks noGrp="1"/>
          </p:cNvSpPr>
          <p:nvPr>
            <p:ph type="body" sz="half" idx="2"/>
          </p:nvPr>
        </p:nvSpPr>
        <p:spPr>
          <a:xfrm>
            <a:off x="5559425" y="2650279"/>
            <a:ext cx="4601612" cy="2612186"/>
          </a:xfrm>
        </p:spPr>
        <p:txBody>
          <a:bodyPr/>
          <a:lstStyle/>
          <a:p>
            <a:r>
              <a:rPr lang="en-US" sz="1800" b="0" dirty="0">
                <a:solidFill>
                  <a:schemeClr val="tx1">
                    <a:lumMod val="95000"/>
                    <a:lumOff val="5000"/>
                  </a:schemeClr>
                </a:solidFill>
                <a:effectLst/>
                <a:latin typeface="Consolas" panose="020B0609020204030204" pitchFamily="49" charset="0"/>
              </a:rPr>
              <a:t>SELECT </a:t>
            </a:r>
            <a:r>
              <a:rPr lang="en-US" sz="1800" b="0" dirty="0" err="1">
                <a:solidFill>
                  <a:schemeClr val="tx1">
                    <a:lumMod val="95000"/>
                    <a:lumOff val="5000"/>
                  </a:schemeClr>
                </a:solidFill>
                <a:effectLst/>
                <a:latin typeface="Consolas" panose="020B0609020204030204" pitchFamily="49" charset="0"/>
              </a:rPr>
              <a:t>t.train_name</a:t>
            </a:r>
            <a:r>
              <a:rPr lang="en-US" sz="1800" b="0" dirty="0">
                <a:solidFill>
                  <a:schemeClr val="tx1">
                    <a:lumMod val="95000"/>
                    <a:lumOff val="5000"/>
                  </a:schemeClr>
                </a:solidFill>
                <a:effectLst/>
                <a:latin typeface="Consolas" panose="020B0609020204030204" pitchFamily="49" charset="0"/>
              </a:rPr>
              <a:t>, COUNT(</a:t>
            </a:r>
            <a:r>
              <a:rPr lang="en-US" sz="1800" b="0" dirty="0" err="1">
                <a:solidFill>
                  <a:schemeClr val="tx1">
                    <a:lumMod val="95000"/>
                    <a:lumOff val="5000"/>
                  </a:schemeClr>
                </a:solidFill>
                <a:effectLst/>
                <a:latin typeface="Consolas" panose="020B0609020204030204" pitchFamily="49" charset="0"/>
              </a:rPr>
              <a:t>c.coach_id</a:t>
            </a:r>
            <a:r>
              <a:rPr lang="en-US" sz="1800" b="0" dirty="0">
                <a:solidFill>
                  <a:schemeClr val="tx1">
                    <a:lumMod val="95000"/>
                    <a:lumOff val="5000"/>
                  </a:schemeClr>
                </a:solidFill>
                <a:effectLst/>
                <a:latin typeface="Consolas" panose="020B0609020204030204" pitchFamily="49" charset="0"/>
              </a:rPr>
              <a:t>) AS </a:t>
            </a:r>
            <a:r>
              <a:rPr lang="en-US" sz="1800" b="0" dirty="0" err="1">
                <a:solidFill>
                  <a:schemeClr val="tx1">
                    <a:lumMod val="95000"/>
                    <a:lumOff val="5000"/>
                  </a:schemeClr>
                </a:solidFill>
                <a:effectLst/>
                <a:latin typeface="Consolas" panose="020B0609020204030204" pitchFamily="49" charset="0"/>
              </a:rPr>
              <a:t>total_coaches</a:t>
            </a:r>
            <a:endParaRPr lang="en-US" sz="1800" b="0" dirty="0">
              <a:solidFill>
                <a:schemeClr val="tx1">
                  <a:lumMod val="95000"/>
                  <a:lumOff val="5000"/>
                </a:schemeClr>
              </a:solidFill>
              <a:effectLst/>
              <a:latin typeface="Consolas" panose="020B0609020204030204" pitchFamily="49" charset="0"/>
            </a:endParaRPr>
          </a:p>
          <a:p>
            <a:r>
              <a:rPr lang="en-US" sz="1800" b="0" dirty="0">
                <a:solidFill>
                  <a:schemeClr val="tx1">
                    <a:lumMod val="95000"/>
                    <a:lumOff val="5000"/>
                  </a:schemeClr>
                </a:solidFill>
                <a:effectLst/>
                <a:latin typeface="Consolas" panose="020B0609020204030204" pitchFamily="49" charset="0"/>
              </a:rPr>
              <a:t>FROM train t</a:t>
            </a:r>
          </a:p>
          <a:p>
            <a:r>
              <a:rPr lang="en-US" sz="1800" b="0" dirty="0">
                <a:solidFill>
                  <a:schemeClr val="tx1">
                    <a:lumMod val="95000"/>
                    <a:lumOff val="5000"/>
                  </a:schemeClr>
                </a:solidFill>
                <a:effectLst/>
                <a:latin typeface="Consolas" panose="020B0609020204030204" pitchFamily="49" charset="0"/>
              </a:rPr>
              <a:t>JOIN coach c</a:t>
            </a:r>
          </a:p>
          <a:p>
            <a:r>
              <a:rPr lang="en-US" sz="1800" b="0" dirty="0">
                <a:solidFill>
                  <a:schemeClr val="tx1">
                    <a:lumMod val="95000"/>
                    <a:lumOff val="5000"/>
                  </a:schemeClr>
                </a:solidFill>
                <a:effectLst/>
                <a:latin typeface="Consolas" panose="020B0609020204030204" pitchFamily="49" charset="0"/>
              </a:rPr>
              <a:t>ON </a:t>
            </a:r>
            <a:r>
              <a:rPr lang="en-US" sz="1800" b="0" dirty="0" err="1">
                <a:solidFill>
                  <a:schemeClr val="tx1">
                    <a:lumMod val="95000"/>
                    <a:lumOff val="5000"/>
                  </a:schemeClr>
                </a:solidFill>
                <a:effectLst/>
                <a:latin typeface="Consolas" panose="020B0609020204030204" pitchFamily="49" charset="0"/>
              </a:rPr>
              <a:t>t.train_id</a:t>
            </a:r>
            <a:r>
              <a:rPr lang="en-US" sz="1800" b="0" dirty="0">
                <a:solidFill>
                  <a:schemeClr val="tx1">
                    <a:lumMod val="95000"/>
                    <a:lumOff val="5000"/>
                  </a:schemeClr>
                </a:solidFill>
                <a:effectLst/>
                <a:latin typeface="Consolas" panose="020B0609020204030204" pitchFamily="49" charset="0"/>
              </a:rPr>
              <a:t> = </a:t>
            </a:r>
            <a:r>
              <a:rPr lang="en-US" sz="1800" b="0" dirty="0" err="1">
                <a:solidFill>
                  <a:schemeClr val="tx1">
                    <a:lumMod val="95000"/>
                    <a:lumOff val="5000"/>
                  </a:schemeClr>
                </a:solidFill>
                <a:effectLst/>
                <a:latin typeface="Consolas" panose="020B0609020204030204" pitchFamily="49" charset="0"/>
              </a:rPr>
              <a:t>c.train_id</a:t>
            </a:r>
            <a:endParaRPr lang="en-US" sz="1800" b="0" dirty="0">
              <a:solidFill>
                <a:schemeClr val="tx1">
                  <a:lumMod val="95000"/>
                  <a:lumOff val="5000"/>
                </a:schemeClr>
              </a:solidFill>
              <a:effectLst/>
              <a:latin typeface="Consolas" panose="020B0609020204030204" pitchFamily="49" charset="0"/>
            </a:endParaRPr>
          </a:p>
          <a:p>
            <a:r>
              <a:rPr lang="en-US" sz="1800" b="0" dirty="0">
                <a:solidFill>
                  <a:schemeClr val="tx1">
                    <a:lumMod val="95000"/>
                    <a:lumOff val="5000"/>
                  </a:schemeClr>
                </a:solidFill>
                <a:effectLst/>
                <a:latin typeface="Consolas" panose="020B0609020204030204" pitchFamily="49" charset="0"/>
              </a:rPr>
              <a:t>GROUP BY </a:t>
            </a:r>
            <a:r>
              <a:rPr lang="en-US" sz="1800" b="0" dirty="0" err="1">
                <a:solidFill>
                  <a:schemeClr val="tx1">
                    <a:lumMod val="95000"/>
                    <a:lumOff val="5000"/>
                  </a:schemeClr>
                </a:solidFill>
                <a:effectLst/>
                <a:latin typeface="Consolas" panose="020B0609020204030204" pitchFamily="49" charset="0"/>
              </a:rPr>
              <a:t>t.train_name</a:t>
            </a:r>
            <a:r>
              <a:rPr lang="en-US" sz="1800" b="0" dirty="0">
                <a:solidFill>
                  <a:schemeClr val="tx1">
                    <a:lumMod val="95000"/>
                    <a:lumOff val="5000"/>
                  </a:schemeClr>
                </a:solidFill>
                <a:effectLst/>
                <a:latin typeface="Consolas" panose="020B0609020204030204" pitchFamily="49" charset="0"/>
              </a:rPr>
              <a:t>;</a:t>
            </a:r>
          </a:p>
          <a:p>
            <a:endParaRPr lang="en-IN" dirty="0"/>
          </a:p>
        </p:txBody>
      </p:sp>
      <p:pic>
        <p:nvPicPr>
          <p:cNvPr id="6" name="Picture 5" descr="A black screen with white text&#10;&#10;AI-generated content may be incorrect.">
            <a:extLst>
              <a:ext uri="{FF2B5EF4-FFF2-40B4-BE49-F238E27FC236}">
                <a16:creationId xmlns:a16="http://schemas.microsoft.com/office/drawing/2014/main" id="{70539CB0-427B-2B00-79BA-037508A9A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59" y="2650279"/>
            <a:ext cx="4137498" cy="2360259"/>
          </a:xfrm>
          <a:prstGeom prst="rect">
            <a:avLst/>
          </a:prstGeom>
        </p:spPr>
      </p:pic>
    </p:spTree>
    <p:extLst>
      <p:ext uri="{BB962C8B-B14F-4D97-AF65-F5344CB8AC3E}">
        <p14:creationId xmlns:p14="http://schemas.microsoft.com/office/powerpoint/2010/main" val="347678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954107"/>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Join 1</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599DF590-E59E-4886-470F-E396B0B2F48D}"/>
              </a:ext>
            </a:extLst>
          </p:cNvPr>
          <p:cNvSpPr>
            <a:spLocks noGrp="1"/>
          </p:cNvSpPr>
          <p:nvPr>
            <p:ph type="title"/>
          </p:nvPr>
        </p:nvSpPr>
        <p:spPr>
          <a:xfrm>
            <a:off x="839788" y="457200"/>
            <a:ext cx="10739502" cy="1600200"/>
          </a:xfrm>
        </p:spPr>
        <p:txBody>
          <a:bodyPr>
            <a:normAutofit/>
          </a:bodyPr>
          <a:lstStyle/>
          <a:p>
            <a:r>
              <a:rPr lang="en-US" sz="1800" b="1" dirty="0">
                <a:solidFill>
                  <a:schemeClr val="tx1">
                    <a:lumMod val="95000"/>
                    <a:lumOff val="5000"/>
                  </a:schemeClr>
                </a:solidFill>
                <a:effectLst/>
                <a:latin typeface="Consolas" panose="020B0609020204030204" pitchFamily="49" charset="0"/>
              </a:rPr>
              <a:t>-- Show train names along with their coach types.</a:t>
            </a:r>
            <a:br>
              <a:rPr lang="en-US" b="0" dirty="0">
                <a:solidFill>
                  <a:srgbClr val="EEFFFF"/>
                </a:solidFill>
                <a:effectLst/>
                <a:latin typeface="Consolas" panose="020B0609020204030204" pitchFamily="49" charset="0"/>
              </a:rPr>
            </a:br>
            <a:br>
              <a:rPr lang="en-US" b="0" dirty="0">
                <a:solidFill>
                  <a:srgbClr val="EEFFFF"/>
                </a:solidFill>
                <a:effectLst/>
                <a:latin typeface="Consolas" panose="020B0609020204030204" pitchFamily="49" charset="0"/>
              </a:rPr>
            </a:br>
            <a:endParaRPr lang="en-IN" dirty="0"/>
          </a:p>
        </p:txBody>
      </p:sp>
      <p:sp>
        <p:nvSpPr>
          <p:cNvPr id="14" name="Picture Placeholder 10">
            <a:extLst>
              <a:ext uri="{FF2B5EF4-FFF2-40B4-BE49-F238E27FC236}">
                <a16:creationId xmlns:a16="http://schemas.microsoft.com/office/drawing/2014/main" id="{F47753D9-504B-0336-EE9C-ED2CF304E60D}"/>
              </a:ext>
            </a:extLst>
          </p:cNvPr>
          <p:cNvSpPr>
            <a:spLocks noGrp="1"/>
          </p:cNvSpPr>
          <p:nvPr>
            <p:ph type="body" sz="half" idx="2"/>
          </p:nvPr>
        </p:nvSpPr>
        <p:spPr>
          <a:xfrm>
            <a:off x="5559425" y="2650279"/>
            <a:ext cx="4601612" cy="2612186"/>
          </a:xfrm>
        </p:spPr>
        <p:txBody>
          <a:bodyPr/>
          <a:lstStyle/>
          <a:p>
            <a:r>
              <a:rPr lang="en-US" sz="2000" b="1" dirty="0">
                <a:solidFill>
                  <a:schemeClr val="tx1">
                    <a:lumMod val="95000"/>
                    <a:lumOff val="5000"/>
                  </a:schemeClr>
                </a:solidFill>
                <a:effectLst/>
                <a:latin typeface="Consolas" panose="020B0609020204030204" pitchFamily="49" charset="0"/>
              </a:rPr>
              <a:t>select </a:t>
            </a:r>
            <a:r>
              <a:rPr lang="en-US" sz="2000" b="1" dirty="0" err="1">
                <a:solidFill>
                  <a:schemeClr val="tx1">
                    <a:lumMod val="95000"/>
                    <a:lumOff val="5000"/>
                  </a:schemeClr>
                </a:solidFill>
                <a:effectLst/>
                <a:latin typeface="Consolas" panose="020B0609020204030204" pitchFamily="49" charset="0"/>
              </a:rPr>
              <a:t>t.train_name,c.coach_type</a:t>
            </a:r>
            <a:r>
              <a:rPr lang="en-US" sz="2000" b="1" dirty="0">
                <a:solidFill>
                  <a:schemeClr val="tx1">
                    <a:lumMod val="95000"/>
                    <a:lumOff val="5000"/>
                  </a:schemeClr>
                </a:solidFill>
                <a:effectLst/>
                <a:latin typeface="Consolas" panose="020B0609020204030204" pitchFamily="49" charset="0"/>
              </a:rPr>
              <a:t> from train t</a:t>
            </a:r>
          </a:p>
          <a:p>
            <a:r>
              <a:rPr lang="en-US" sz="2000" b="1" dirty="0">
                <a:solidFill>
                  <a:schemeClr val="tx1">
                    <a:lumMod val="95000"/>
                    <a:lumOff val="5000"/>
                  </a:schemeClr>
                </a:solidFill>
                <a:effectLst/>
                <a:latin typeface="Consolas" panose="020B0609020204030204" pitchFamily="49" charset="0"/>
              </a:rPr>
              <a:t>left join coach c</a:t>
            </a:r>
          </a:p>
          <a:p>
            <a:r>
              <a:rPr lang="en-US" sz="2000" b="1" dirty="0">
                <a:solidFill>
                  <a:schemeClr val="tx1">
                    <a:lumMod val="95000"/>
                    <a:lumOff val="5000"/>
                  </a:schemeClr>
                </a:solidFill>
                <a:effectLst/>
                <a:latin typeface="Consolas" panose="020B0609020204030204" pitchFamily="49" charset="0"/>
              </a:rPr>
              <a:t>on </a:t>
            </a:r>
            <a:r>
              <a:rPr lang="en-US" sz="2000" b="1" dirty="0" err="1">
                <a:solidFill>
                  <a:schemeClr val="tx1">
                    <a:lumMod val="95000"/>
                    <a:lumOff val="5000"/>
                  </a:schemeClr>
                </a:solidFill>
                <a:effectLst/>
                <a:latin typeface="Consolas" panose="020B0609020204030204" pitchFamily="49" charset="0"/>
              </a:rPr>
              <a:t>c.train_id</a:t>
            </a:r>
            <a:r>
              <a:rPr lang="en-US" sz="2000" b="1" dirty="0">
                <a:solidFill>
                  <a:schemeClr val="tx1">
                    <a:lumMod val="95000"/>
                    <a:lumOff val="5000"/>
                  </a:schemeClr>
                </a:solidFill>
                <a:effectLst/>
                <a:latin typeface="Consolas" panose="020B0609020204030204" pitchFamily="49" charset="0"/>
              </a:rPr>
              <a:t>=</a:t>
            </a:r>
            <a:r>
              <a:rPr lang="en-US" sz="2000" b="1" dirty="0" err="1">
                <a:solidFill>
                  <a:schemeClr val="tx1">
                    <a:lumMod val="95000"/>
                    <a:lumOff val="5000"/>
                  </a:schemeClr>
                </a:solidFill>
                <a:effectLst/>
                <a:latin typeface="Consolas" panose="020B0609020204030204" pitchFamily="49" charset="0"/>
              </a:rPr>
              <a:t>t.train_id</a:t>
            </a:r>
            <a:r>
              <a:rPr lang="en-US" sz="2000" b="1" dirty="0">
                <a:solidFill>
                  <a:schemeClr val="tx1">
                    <a:lumMod val="95000"/>
                    <a:lumOff val="5000"/>
                  </a:schemeClr>
                </a:solidFill>
                <a:effectLst/>
                <a:latin typeface="Consolas" panose="020B0609020204030204" pitchFamily="49" charset="0"/>
              </a:rPr>
              <a:t>;</a:t>
            </a:r>
          </a:p>
          <a:p>
            <a:endParaRPr lang="en-IN" dirty="0"/>
          </a:p>
        </p:txBody>
      </p:sp>
      <p:pic>
        <p:nvPicPr>
          <p:cNvPr id="7" name="Picture 6" descr="A screenshot of a computer program&#10;&#10;AI-generated content may be incorrect.">
            <a:extLst>
              <a:ext uri="{FF2B5EF4-FFF2-40B4-BE49-F238E27FC236}">
                <a16:creationId xmlns:a16="http://schemas.microsoft.com/office/drawing/2014/main" id="{69DC9E8A-0BF9-51F4-EABF-2C41F13E1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281" y="1936083"/>
            <a:ext cx="3734124" cy="4686706"/>
          </a:xfrm>
          <a:prstGeom prst="rect">
            <a:avLst/>
          </a:prstGeom>
        </p:spPr>
      </p:pic>
    </p:spTree>
    <p:extLst>
      <p:ext uri="{BB962C8B-B14F-4D97-AF65-F5344CB8AC3E}">
        <p14:creationId xmlns:p14="http://schemas.microsoft.com/office/powerpoint/2010/main" val="2053201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1384995"/>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Joints 2</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screen shot of a black screen&#10;&#10;AI-generated content may be incorrect.">
            <a:extLst>
              <a:ext uri="{FF2B5EF4-FFF2-40B4-BE49-F238E27FC236}">
                <a16:creationId xmlns:a16="http://schemas.microsoft.com/office/drawing/2014/main" id="{0EC9654D-31CC-448F-042D-AFD0892850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7" y="2015412"/>
            <a:ext cx="4216196" cy="4607377"/>
          </a:xfrm>
          <a:prstGeom prst="rect">
            <a:avLst/>
          </a:prstGeom>
        </p:spPr>
      </p:pic>
      <p:sp>
        <p:nvSpPr>
          <p:cNvPr id="6" name="Title 5">
            <a:extLst>
              <a:ext uri="{FF2B5EF4-FFF2-40B4-BE49-F238E27FC236}">
                <a16:creationId xmlns:a16="http://schemas.microsoft.com/office/drawing/2014/main" id="{A31C0983-A8B5-3FF8-8D4C-D2AAC935B34C}"/>
              </a:ext>
            </a:extLst>
          </p:cNvPr>
          <p:cNvSpPr>
            <a:spLocks noGrp="1"/>
          </p:cNvSpPr>
          <p:nvPr>
            <p:ph type="title"/>
          </p:nvPr>
        </p:nvSpPr>
        <p:spPr>
          <a:xfrm>
            <a:off x="839788" y="457200"/>
            <a:ext cx="9321249" cy="1208649"/>
          </a:xfrm>
        </p:spPr>
        <p:txBody>
          <a:bodyPr>
            <a:normAutofit/>
          </a:bodyPr>
          <a:lstStyle/>
          <a:p>
            <a:r>
              <a:rPr lang="en-US" sz="1800" b="1" i="1"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Show station name and number of passengers boarding from each station.</a:t>
            </a:r>
            <a:br>
              <a:rPr lang="en-US" sz="1600" b="1" dirty="0">
                <a:solidFill>
                  <a:srgbClr val="EEFFFF"/>
                </a:solidFill>
                <a:effectLst/>
                <a:latin typeface="Calibri" panose="020F0502020204030204" pitchFamily="34" charset="0"/>
                <a:ea typeface="Calibri" panose="020F0502020204030204" pitchFamily="34" charset="0"/>
                <a:cs typeface="Calibri" panose="020F0502020204030204" pitchFamily="34" charset="0"/>
              </a:rPr>
            </a:b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Content Placeholder 6">
            <a:extLst>
              <a:ext uri="{FF2B5EF4-FFF2-40B4-BE49-F238E27FC236}">
                <a16:creationId xmlns:a16="http://schemas.microsoft.com/office/drawing/2014/main" id="{E4CFA506-2946-9B3B-653E-7F3815081CD5}"/>
              </a:ext>
            </a:extLst>
          </p:cNvPr>
          <p:cNvSpPr>
            <a:spLocks noGrp="1"/>
          </p:cNvSpPr>
          <p:nvPr>
            <p:ph type="body" sz="half" idx="2"/>
          </p:nvPr>
        </p:nvSpPr>
        <p:spPr>
          <a:xfrm>
            <a:off x="6027737" y="2057400"/>
            <a:ext cx="5047699" cy="3811588"/>
          </a:xfrm>
        </p:spPr>
        <p:txBody>
          <a:bodyPr>
            <a:noAutofit/>
          </a:bodyPr>
          <a:lstStyle/>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select </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s.station_name,count</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p.passenger_id</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)as </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total_no_passenger</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 from passenger p</a:t>
            </a:r>
          </a:p>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ticket t</a:t>
            </a:r>
          </a:p>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p.passenger_id</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t.passenger_id</a:t>
            </a:r>
            <a:endPar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endParaRPr>
          </a:p>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station s</a:t>
            </a:r>
          </a:p>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s.station_id</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t.station_id</a:t>
            </a:r>
            <a:endPar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endParaRPr>
          </a:p>
          <a:p>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group by </a:t>
            </a:r>
            <a:r>
              <a:rPr lang="en-IN" sz="180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s.station_name</a:t>
            </a:r>
            <a: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p>
          <a:p>
            <a:br>
              <a:rPr lang="en-IN" sz="180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br>
            <a:br>
              <a:rPr lang="en-IN" sz="1800" dirty="0">
                <a:solidFill>
                  <a:srgbClr val="EEFFFF"/>
                </a:solidFill>
                <a:effectLst/>
                <a:latin typeface="Consolas" panose="020B0609020204030204" pitchFamily="49" charset="0"/>
                <a:ea typeface="Calibri" panose="020F0502020204030204" pitchFamily="34" charset="0"/>
                <a:cs typeface="Calibri" panose="020F0502020204030204" pitchFamily="34" charset="0"/>
              </a:rPr>
            </a:br>
            <a:endParaRPr lang="en-IN" sz="1800" dirty="0">
              <a:solidFill>
                <a:srgbClr val="EEFFFF"/>
              </a:solidFill>
              <a:effectLst/>
              <a:latin typeface="Consolas" panose="020B0609020204030204" pitchFamily="49" charset="0"/>
              <a:ea typeface="Calibri" panose="020F0502020204030204" pitchFamily="34" charset="0"/>
              <a:cs typeface="Calibri" panose="020F0502020204030204" pitchFamily="34" charset="0"/>
            </a:endParaRPr>
          </a:p>
          <a:p>
            <a:endParaRPr lang="en-IN" sz="1800" dirty="0">
              <a:latin typeface="Consolas" panose="020B0609020204030204" pitchFamily="49"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3088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1384995"/>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Join 4</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D5E28AD-022D-EDAB-A15F-A8E0FDE9BD9C}"/>
              </a:ext>
            </a:extLst>
          </p:cNvPr>
          <p:cNvSpPr txBox="1"/>
          <p:nvPr/>
        </p:nvSpPr>
        <p:spPr>
          <a:xfrm>
            <a:off x="317242" y="1152530"/>
            <a:ext cx="10954138" cy="584775"/>
          </a:xfrm>
          <a:prstGeom prst="rect">
            <a:avLst/>
          </a:prstGeom>
          <a:noFill/>
        </p:spPr>
        <p:txBody>
          <a:bodyPr wrap="square">
            <a:spAutoFit/>
          </a:bodyPr>
          <a:lstStyle/>
          <a:p>
            <a:r>
              <a:rPr lang="en-US" sz="1600" b="1" i="1"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rPr>
              <a:t>-- Show passenger name, train name, station name, coach type, and fare, where the fare is higher than the average fare of all tickets.</a:t>
            </a:r>
            <a:endParaRPr lang="en-US" sz="1600" b="1"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A screen shot of a computer&#10;&#10;AI-generated content may be incorrect.">
            <a:extLst>
              <a:ext uri="{FF2B5EF4-FFF2-40B4-BE49-F238E27FC236}">
                <a16:creationId xmlns:a16="http://schemas.microsoft.com/office/drawing/2014/main" id="{11C811AD-CADA-FDC4-9A0D-2C14BB7C8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39" y="2050080"/>
            <a:ext cx="4963883" cy="4288667"/>
          </a:xfrm>
          <a:prstGeom prst="rect">
            <a:avLst/>
          </a:prstGeom>
        </p:spPr>
      </p:pic>
      <p:sp>
        <p:nvSpPr>
          <p:cNvPr id="10" name="Text Placeholder 9">
            <a:extLst>
              <a:ext uri="{FF2B5EF4-FFF2-40B4-BE49-F238E27FC236}">
                <a16:creationId xmlns:a16="http://schemas.microsoft.com/office/drawing/2014/main" id="{327C49C0-C954-7B6E-7A6E-88664DD93101}"/>
              </a:ext>
            </a:extLst>
          </p:cNvPr>
          <p:cNvSpPr>
            <a:spLocks noGrp="1"/>
          </p:cNvSpPr>
          <p:nvPr>
            <p:ph type="body" idx="1"/>
          </p:nvPr>
        </p:nvSpPr>
        <p:spPr>
          <a:xfrm>
            <a:off x="5999584" y="2050080"/>
            <a:ext cx="5775648" cy="3538957"/>
          </a:xfrm>
        </p:spPr>
        <p:txBody>
          <a:bodyPr>
            <a:normAutofit fontScale="92500" lnSpcReduction="20000"/>
          </a:bodyPr>
          <a:lstStyle/>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select p.name,t1.train_name,s.station_name,c.coach_type,t.fare from passenger p</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ticket t</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p.passenger_id</a:t>
            </a:r>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t.passenger_id</a:t>
            </a:r>
            <a:endPar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endParaRP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train t1</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t.train_id</a:t>
            </a:r>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=t1.train_id</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station s</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s.station_id</a:t>
            </a:r>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t.station_id</a:t>
            </a:r>
            <a:endPar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endParaRP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join coach c</a:t>
            </a: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on t1.train_id=</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c.train_id</a:t>
            </a:r>
            <a:endPar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endParaRPr>
          </a:p>
          <a:p>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where </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t.fare</a:t>
            </a:r>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&gt;(select </a:t>
            </a:r>
            <a:r>
              <a:rPr lang="en-IN" sz="1600" b="0" dirty="0" err="1">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avg</a:t>
            </a:r>
            <a:r>
              <a:rPr lang="en-IN" sz="1600" b="0" dirty="0">
                <a:solidFill>
                  <a:schemeClr val="tx1">
                    <a:lumMod val="95000"/>
                    <a:lumOff val="5000"/>
                  </a:schemeClr>
                </a:solidFill>
                <a:effectLst/>
                <a:latin typeface="Consolas" panose="020B0609020204030204" pitchFamily="49" charset="0"/>
                <a:ea typeface="Calibri" panose="020F0502020204030204" pitchFamily="34" charset="0"/>
                <a:cs typeface="Calibri" panose="020F0502020204030204" pitchFamily="34" charset="0"/>
              </a:rPr>
              <a:t>(fare) from ticket);</a:t>
            </a:r>
          </a:p>
          <a:p>
            <a:endParaRPr lang="en-IN" sz="1600" dirty="0">
              <a:latin typeface="Consolas" panose="020B0609020204030204" pitchFamily="49"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7276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F7475E-1F83-665E-0877-F7DF79BBBCA9}"/>
              </a:ext>
            </a:extLst>
          </p:cNvPr>
          <p:cNvSpPr/>
          <p:nvPr/>
        </p:nvSpPr>
        <p:spPr>
          <a:xfrm>
            <a:off x="0" y="0"/>
            <a:ext cx="12192000" cy="839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75DA93-33A3-C0DC-D0F3-F59E4BB5ECC0}"/>
              </a:ext>
            </a:extLst>
          </p:cNvPr>
          <p:cNvSpPr txBox="1"/>
          <p:nvPr/>
        </p:nvSpPr>
        <p:spPr>
          <a:xfrm>
            <a:off x="1744825" y="235211"/>
            <a:ext cx="8416212" cy="1384995"/>
          </a:xfrm>
          <a:prstGeom prst="rect">
            <a:avLst/>
          </a:prstGeom>
          <a:no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Join 4</a:t>
            </a: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D5E28AD-022D-EDAB-A15F-A8E0FDE9BD9C}"/>
              </a:ext>
            </a:extLst>
          </p:cNvPr>
          <p:cNvSpPr txBox="1"/>
          <p:nvPr/>
        </p:nvSpPr>
        <p:spPr>
          <a:xfrm>
            <a:off x="317242" y="1152530"/>
            <a:ext cx="10954138" cy="830997"/>
          </a:xfrm>
          <a:prstGeom prst="rect">
            <a:avLst/>
          </a:prstGeom>
          <a:noFill/>
        </p:spPr>
        <p:txBody>
          <a:bodyPr wrap="square">
            <a:spAutoFit/>
          </a:bodyPr>
          <a:lstStyle/>
          <a:p>
            <a:r>
              <a:rPr lang="en-US" sz="1600" b="1" i="1" dirty="0">
                <a:solidFill>
                  <a:schemeClr val="tx1">
                    <a:lumMod val="95000"/>
                    <a:lumOff val="5000"/>
                  </a:schemeClr>
                </a:solidFill>
                <a:effectLst/>
                <a:latin typeface="Consolas" panose="020B0609020204030204" pitchFamily="49" charset="0"/>
              </a:rPr>
              <a:t>-- Display passenger name and train name for passengers traveling in Superfast ,ac express  trains only.</a:t>
            </a:r>
            <a:endParaRPr lang="en-US" sz="1600" b="1" dirty="0">
              <a:solidFill>
                <a:schemeClr val="tx1">
                  <a:lumMod val="95000"/>
                  <a:lumOff val="5000"/>
                </a:schemeClr>
              </a:solidFill>
              <a:effectLst/>
              <a:latin typeface="Consolas" panose="020B0609020204030204" pitchFamily="49" charset="0"/>
            </a:endParaRPr>
          </a:p>
          <a:p>
            <a:endParaRPr lang="en-US" sz="1600" b="1"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9">
            <a:extLst>
              <a:ext uri="{FF2B5EF4-FFF2-40B4-BE49-F238E27FC236}">
                <a16:creationId xmlns:a16="http://schemas.microsoft.com/office/drawing/2014/main" id="{327C49C0-C954-7B6E-7A6E-88664DD93101}"/>
              </a:ext>
            </a:extLst>
          </p:cNvPr>
          <p:cNvSpPr>
            <a:spLocks noGrp="1"/>
          </p:cNvSpPr>
          <p:nvPr>
            <p:ph type="body" idx="1"/>
          </p:nvPr>
        </p:nvSpPr>
        <p:spPr>
          <a:xfrm>
            <a:off x="5234473" y="1882130"/>
            <a:ext cx="6540759" cy="3706907"/>
          </a:xfrm>
        </p:spPr>
        <p:txBody>
          <a:bodyPr>
            <a:normAutofit/>
          </a:bodyPr>
          <a:lstStyle/>
          <a:p>
            <a:r>
              <a:rPr lang="en-IN" sz="1600" b="0" dirty="0">
                <a:solidFill>
                  <a:schemeClr val="tx1">
                    <a:lumMod val="95000"/>
                    <a:lumOff val="5000"/>
                  </a:schemeClr>
                </a:solidFill>
                <a:effectLst/>
                <a:latin typeface="Consolas" panose="020B0609020204030204" pitchFamily="49" charset="0"/>
              </a:rPr>
              <a:t>select p1.name,t.train_name,t.train_type  from train t</a:t>
            </a:r>
          </a:p>
          <a:p>
            <a:r>
              <a:rPr lang="en-IN" sz="1600" b="0" dirty="0">
                <a:solidFill>
                  <a:schemeClr val="tx1">
                    <a:lumMod val="95000"/>
                    <a:lumOff val="5000"/>
                  </a:schemeClr>
                </a:solidFill>
                <a:effectLst/>
                <a:latin typeface="Consolas" panose="020B0609020204030204" pitchFamily="49" charset="0"/>
              </a:rPr>
              <a:t>inner join ticket t2</a:t>
            </a:r>
          </a:p>
          <a:p>
            <a:r>
              <a:rPr lang="en-IN" sz="1600" b="0" dirty="0">
                <a:solidFill>
                  <a:schemeClr val="tx1">
                    <a:lumMod val="95000"/>
                    <a:lumOff val="5000"/>
                  </a:schemeClr>
                </a:solidFill>
                <a:effectLst/>
                <a:latin typeface="Consolas" panose="020B0609020204030204" pitchFamily="49" charset="0"/>
              </a:rPr>
              <a:t>on </a:t>
            </a:r>
            <a:r>
              <a:rPr lang="en-IN" sz="1600" b="0" dirty="0" err="1">
                <a:solidFill>
                  <a:schemeClr val="tx1">
                    <a:lumMod val="95000"/>
                    <a:lumOff val="5000"/>
                  </a:schemeClr>
                </a:solidFill>
                <a:effectLst/>
                <a:latin typeface="Consolas" panose="020B0609020204030204" pitchFamily="49" charset="0"/>
              </a:rPr>
              <a:t>t.train_id</a:t>
            </a:r>
            <a:r>
              <a:rPr lang="en-IN" sz="1600" b="0" dirty="0">
                <a:solidFill>
                  <a:schemeClr val="tx1">
                    <a:lumMod val="95000"/>
                    <a:lumOff val="5000"/>
                  </a:schemeClr>
                </a:solidFill>
                <a:effectLst/>
                <a:latin typeface="Consolas" panose="020B0609020204030204" pitchFamily="49" charset="0"/>
              </a:rPr>
              <a:t>=t2.train_id</a:t>
            </a:r>
          </a:p>
          <a:p>
            <a:r>
              <a:rPr lang="en-IN" sz="1600" b="0" dirty="0">
                <a:solidFill>
                  <a:schemeClr val="tx1">
                    <a:lumMod val="95000"/>
                    <a:lumOff val="5000"/>
                  </a:schemeClr>
                </a:solidFill>
                <a:effectLst/>
                <a:latin typeface="Consolas" panose="020B0609020204030204" pitchFamily="49" charset="0"/>
              </a:rPr>
              <a:t>inner join passenger p1</a:t>
            </a:r>
          </a:p>
          <a:p>
            <a:r>
              <a:rPr lang="en-IN" sz="1600" b="0" dirty="0">
                <a:solidFill>
                  <a:schemeClr val="tx1">
                    <a:lumMod val="95000"/>
                    <a:lumOff val="5000"/>
                  </a:schemeClr>
                </a:solidFill>
                <a:effectLst/>
                <a:latin typeface="Consolas" panose="020B0609020204030204" pitchFamily="49" charset="0"/>
              </a:rPr>
              <a:t>on p1.passenger_id=t2.passenger_id</a:t>
            </a:r>
          </a:p>
          <a:p>
            <a:r>
              <a:rPr lang="en-IN" sz="1600" b="0" dirty="0">
                <a:solidFill>
                  <a:schemeClr val="tx1">
                    <a:lumMod val="95000"/>
                    <a:lumOff val="5000"/>
                  </a:schemeClr>
                </a:solidFill>
                <a:effectLst/>
                <a:latin typeface="Consolas" panose="020B0609020204030204" pitchFamily="49" charset="0"/>
              </a:rPr>
              <a:t>where </a:t>
            </a:r>
            <a:r>
              <a:rPr lang="en-IN" sz="1600" b="0" dirty="0" err="1">
                <a:solidFill>
                  <a:schemeClr val="tx1">
                    <a:lumMod val="95000"/>
                    <a:lumOff val="5000"/>
                  </a:schemeClr>
                </a:solidFill>
                <a:effectLst/>
                <a:latin typeface="Consolas" panose="020B0609020204030204" pitchFamily="49" charset="0"/>
              </a:rPr>
              <a:t>t.train_type</a:t>
            </a:r>
            <a:r>
              <a:rPr lang="en-IN" sz="1600" b="0" dirty="0">
                <a:solidFill>
                  <a:schemeClr val="tx1">
                    <a:lumMod val="95000"/>
                    <a:lumOff val="5000"/>
                  </a:schemeClr>
                </a:solidFill>
                <a:effectLst/>
                <a:latin typeface="Consolas" panose="020B0609020204030204" pitchFamily="49" charset="0"/>
              </a:rPr>
              <a:t> in ('</a:t>
            </a:r>
            <a:r>
              <a:rPr lang="en-IN" sz="1600" b="0" dirty="0" err="1">
                <a:solidFill>
                  <a:schemeClr val="tx1">
                    <a:lumMod val="95000"/>
                    <a:lumOff val="5000"/>
                  </a:schemeClr>
                </a:solidFill>
                <a:effectLst/>
                <a:latin typeface="Consolas" panose="020B0609020204030204" pitchFamily="49" charset="0"/>
              </a:rPr>
              <a:t>superfast','ac</a:t>
            </a:r>
            <a:r>
              <a:rPr lang="en-IN" sz="1600" b="0" dirty="0">
                <a:solidFill>
                  <a:schemeClr val="tx1">
                    <a:lumMod val="95000"/>
                    <a:lumOff val="5000"/>
                  </a:schemeClr>
                </a:solidFill>
                <a:effectLst/>
                <a:latin typeface="Consolas" panose="020B0609020204030204" pitchFamily="49" charset="0"/>
              </a:rPr>
              <a:t> </a:t>
            </a:r>
            <a:r>
              <a:rPr lang="en-IN" sz="1600" b="0" dirty="0" err="1">
                <a:solidFill>
                  <a:schemeClr val="tx1">
                    <a:lumMod val="95000"/>
                    <a:lumOff val="5000"/>
                  </a:schemeClr>
                </a:solidFill>
                <a:effectLst/>
                <a:latin typeface="Consolas" panose="020B0609020204030204" pitchFamily="49" charset="0"/>
              </a:rPr>
              <a:t>express'</a:t>
            </a:r>
            <a:r>
              <a:rPr lang="en-IN" sz="1600" b="0" dirty="0">
                <a:solidFill>
                  <a:schemeClr val="tx1">
                    <a:lumMod val="95000"/>
                    <a:lumOff val="5000"/>
                  </a:schemeClr>
                </a:solidFill>
                <a:effectLst/>
                <a:latin typeface="Consolas" panose="020B0609020204030204" pitchFamily="49" charset="0"/>
              </a:rPr>
              <a:t>);</a:t>
            </a:r>
          </a:p>
          <a:p>
            <a:br>
              <a:rPr lang="en-IN" sz="1600" b="0" dirty="0">
                <a:solidFill>
                  <a:schemeClr val="tx1">
                    <a:lumMod val="95000"/>
                    <a:lumOff val="5000"/>
                  </a:schemeClr>
                </a:solidFill>
                <a:effectLst/>
                <a:latin typeface="Consolas" panose="020B0609020204030204" pitchFamily="49" charset="0"/>
              </a:rPr>
            </a:br>
            <a:endParaRPr lang="en-IN" sz="1600" b="0" dirty="0">
              <a:solidFill>
                <a:schemeClr val="tx1">
                  <a:lumMod val="95000"/>
                  <a:lumOff val="5000"/>
                </a:schemeClr>
              </a:solidFill>
              <a:effectLst/>
              <a:latin typeface="Consolas" panose="020B0609020204030204" pitchFamily="49" charset="0"/>
            </a:endParaRPr>
          </a:p>
          <a:p>
            <a:endParaRPr lang="en-IN" sz="1600" dirty="0">
              <a:latin typeface="Consolas" panose="020B0609020204030204" pitchFamily="49" charset="0"/>
              <a:ea typeface="Calibri" panose="020F0502020204030204" pitchFamily="34" charset="0"/>
              <a:cs typeface="Calibri" panose="020F0502020204030204" pitchFamily="34" charset="0"/>
            </a:endParaRPr>
          </a:p>
        </p:txBody>
      </p:sp>
      <p:pic>
        <p:nvPicPr>
          <p:cNvPr id="3" name="Picture 2" descr="A black screen with white text&#10;&#10;AI-generated content may be incorrect.">
            <a:extLst>
              <a:ext uri="{FF2B5EF4-FFF2-40B4-BE49-F238E27FC236}">
                <a16:creationId xmlns:a16="http://schemas.microsoft.com/office/drawing/2014/main" id="{B8A8E032-00C5-652F-77F3-512D6B8AA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242" y="2555559"/>
            <a:ext cx="4564776" cy="2194750"/>
          </a:xfrm>
          <a:prstGeom prst="rect">
            <a:avLst/>
          </a:prstGeom>
        </p:spPr>
      </p:pic>
    </p:spTree>
    <p:extLst>
      <p:ext uri="{BB962C8B-B14F-4D97-AF65-F5344CB8AC3E}">
        <p14:creationId xmlns:p14="http://schemas.microsoft.com/office/powerpoint/2010/main" val="3197628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ook Train Tickets Online, Indian Railway Catering Services, Irctc Logo With Train Silhouette, Irctc Tourism Corporation Logo, Travel Planning With Irctc, Indian Railways Ticket Design, Irctc Logo, Train Ticket Logo, Mumbai Local Train Ticket Fare">
            <a:extLst>
              <a:ext uri="{FF2B5EF4-FFF2-40B4-BE49-F238E27FC236}">
                <a16:creationId xmlns:a16="http://schemas.microsoft.com/office/drawing/2014/main" id="{5F4FD46E-FFD5-994F-6224-716355AC39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089E94-60F9-F015-ED3A-0767925028AE}"/>
              </a:ext>
            </a:extLst>
          </p:cNvPr>
          <p:cNvSpPr>
            <a:spLocks noGrp="1"/>
          </p:cNvSpPr>
          <p:nvPr>
            <p:ph type="title"/>
          </p:nvPr>
        </p:nvSpPr>
        <p:spPr>
          <a:xfrm>
            <a:off x="2836504" y="5486401"/>
            <a:ext cx="5365103" cy="979713"/>
          </a:xfrm>
        </p:spPr>
        <p:txBody>
          <a:bodyPr>
            <a:noAutofit/>
          </a:bodyPr>
          <a:lstStyle/>
          <a:p>
            <a:pPr algn="ctr"/>
            <a:r>
              <a:rPr lang="en-IN" sz="2000" b="1" dirty="0">
                <a:solidFill>
                  <a:schemeClr val="tx1">
                    <a:lumMod val="95000"/>
                    <a:lumOff val="5000"/>
                  </a:schemeClr>
                </a:solidFill>
              </a:rPr>
              <a:t>Prepared by </a:t>
            </a:r>
            <a:br>
              <a:rPr lang="en-IN" sz="2000" b="1" dirty="0">
                <a:solidFill>
                  <a:schemeClr val="tx1">
                    <a:lumMod val="95000"/>
                    <a:lumOff val="5000"/>
                  </a:schemeClr>
                </a:solidFill>
              </a:rPr>
            </a:br>
            <a:r>
              <a:rPr lang="en-IN" sz="2000" b="1" dirty="0">
                <a:solidFill>
                  <a:schemeClr val="tx1">
                    <a:lumMod val="95000"/>
                    <a:lumOff val="5000"/>
                  </a:schemeClr>
                </a:solidFill>
              </a:rPr>
              <a:t>Ganesh Omprakash karli</a:t>
            </a:r>
            <a:br>
              <a:rPr lang="en-IN" sz="2000" b="1" dirty="0">
                <a:solidFill>
                  <a:schemeClr val="tx1">
                    <a:lumMod val="95000"/>
                    <a:lumOff val="5000"/>
                  </a:schemeClr>
                </a:solidFill>
              </a:rPr>
            </a:br>
            <a:r>
              <a:rPr lang="en-IN" sz="2000" b="1" dirty="0">
                <a:solidFill>
                  <a:schemeClr val="tx1">
                    <a:lumMod val="95000"/>
                    <a:lumOff val="5000"/>
                  </a:schemeClr>
                </a:solidFill>
              </a:rPr>
              <a:t>IT </a:t>
            </a:r>
            <a:r>
              <a:rPr lang="en-IN" sz="2000" b="1" dirty="0" err="1">
                <a:solidFill>
                  <a:schemeClr val="tx1">
                    <a:lumMod val="95000"/>
                    <a:lumOff val="5000"/>
                  </a:schemeClr>
                </a:solidFill>
              </a:rPr>
              <a:t>vedant</a:t>
            </a:r>
            <a:endParaRPr lang="en-IN" sz="2000" b="1" dirty="0">
              <a:solidFill>
                <a:schemeClr val="tx1">
                  <a:lumMod val="95000"/>
                  <a:lumOff val="5000"/>
                </a:schemeClr>
              </a:solidFill>
            </a:endParaRPr>
          </a:p>
        </p:txBody>
      </p:sp>
    </p:spTree>
    <p:extLst>
      <p:ext uri="{BB962C8B-B14F-4D97-AF65-F5344CB8AC3E}">
        <p14:creationId xmlns:p14="http://schemas.microsoft.com/office/powerpoint/2010/main" val="2509517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lurred boy holding a piece of paper with the words Thank You in front of her. Thank you stock images, royalty-free photos and pictures">
            <a:extLst>
              <a:ext uri="{FF2B5EF4-FFF2-40B4-BE49-F238E27FC236}">
                <a16:creationId xmlns:a16="http://schemas.microsoft.com/office/drawing/2014/main" id="{912DADB7-9BB8-D959-0F54-1700CCA05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86269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312</TotalTime>
  <Words>1016</Words>
  <Application>Microsoft Office PowerPoint</Application>
  <PresentationFormat>Widescreen</PresentationFormat>
  <Paragraphs>122</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Consolas</vt:lpstr>
      <vt:lpstr>Trebuchet MS</vt:lpstr>
      <vt:lpstr>Wingdings 3</vt:lpstr>
      <vt:lpstr>Facet</vt:lpstr>
      <vt:lpstr>Railway Ticket Management system</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Subquery</vt:lpstr>
      <vt:lpstr> -- Find passengers who paid more fare than the min fare of all passengers. </vt:lpstr>
      <vt:lpstr>PowerPoint Presentation</vt:lpstr>
      <vt:lpstr> Find passengers who paid the second highest fare.</vt:lpstr>
      <vt:lpstr>                   -- Find the names of passengers who paid a fare greater than the maximum fare paid by any passenger boarding from the station named “Mumbai Central”.   </vt:lpstr>
      <vt:lpstr>--Find train names where fare is greater than the average fare of that train.  </vt:lpstr>
      <vt:lpstr>-- find the name, fare, station  of passengers who booked tickets at stations of type “Central”.</vt:lpstr>
      <vt:lpstr>JOINS IN SQL </vt:lpstr>
      <vt:lpstr>-- List train name and total number of coaches available for each train. </vt:lpstr>
      <vt:lpstr>-- Show train names along with their coach types.  </vt:lpstr>
      <vt:lpstr>-- Show station name and number of passengers boarding from each station. </vt:lpstr>
      <vt:lpstr>PowerPoint Presentation</vt:lpstr>
      <vt:lpstr>PowerPoint Presentation</vt:lpstr>
      <vt:lpstr>Prepared by  Ganesh Omprakash karli IT vedant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Guardians of the Stack the Stack</dc:creator>
  <cp:lastModifiedBy>Guardians of the Stack the Stack</cp:lastModifiedBy>
  <cp:revision>10</cp:revision>
  <dcterms:created xsi:type="dcterms:W3CDTF">2026-03-15T17:38:30Z</dcterms:created>
  <dcterms:modified xsi:type="dcterms:W3CDTF">2026-03-31T05:52:12Z</dcterms:modified>
</cp:coreProperties>
</file>